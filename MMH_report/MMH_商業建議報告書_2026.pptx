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5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a54ffffb-e16b-6bb7-7281-f7d643755b17}">
          <p14:sldIdLst>
            <p14:sldId id="256"/>
            <p14:sldId id="257"/>
            <p14:sldId id="258"/>
          </p14:sldIdLst>
        </p14:section>
        <p14:section name="產業環境" id="{8e7bdf25-a708-eef9-8746-5cdf6a062ae4}">
          <p14:sldIdLst>
            <p14:sldId id="259"/>
            <p14:sldId id="260"/>
            <p14:sldId id="261"/>
            <p14:sldId id="262"/>
          </p14:sldIdLst>
        </p14:section>
        <p14:section name="消費趨勢" id="{2d8dca8c-577a-b98a-f34d-19bd26c75f4f}">
          <p14:sldIdLst>
            <p14:sldId id="263"/>
            <p14:sldId id="264"/>
            <p14:sldId id="265"/>
            <p14:sldId id="266"/>
            <p14:sldId id="267"/>
          </p14:sldIdLst>
        </p14:section>
        <p14:section name="風險與法規" id="{f59e16e9-4ef3-988a-4006-f3a6806139df}">
          <p14:sldIdLst>
            <p14:sldId id="268"/>
            <p14:sldId id="269"/>
            <p14:sldId id="270"/>
          </p14:sldIdLst>
        </p14:section>
        <p14:section name="策略建議" id="{62dbc9f2-e75a-7579-766f-5f9e42b1737b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執行計畫" id="{147711b2-1727-25cd-014c-29ca932fd86a}">
          <p14:sldIdLst>
            <p14:sldId id="281"/>
            <p14:sldId id="282"/>
            <p14:sldId id="283"/>
          </p14:sldIdLst>
        </p14:section>
        <p14:section name="結語" id="{828a69e3-1f3f-8a3e-3445-6436d2d20bab}">
          <p14:sldIdLst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4A251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4A2511"/>
                </a:solidFill>
                <a:latin typeface="+mn-lt"/>
              </a:rPr>
              <a:t>各研究機構估計：2025 年全球香辛料與調味料市場（十億美元）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 年市場規模（十億美元）</c:v>
                </c:pt>
              </c:strCache>
            </c:strRef>
          </c:tx>
          <c:spPr>
            <a:solidFill>
              <a:srgbClr val="8A5A3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1A1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GMI
(CAGR 5.7%)</c:v>
                  </c:pt>
                  <c:pt idx="1">
                    <c:v>Report Prime
(CAGR 5.46%)</c:v>
                  </c:pt>
                  <c:pt idx="2">
                    <c:v>Towards FnB
(CAGR 6.9%)</c:v>
                  </c:pt>
                  <c:pt idx="3">
                    <c:v>Diligence
(CAGR 7.5%)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22.4</c:v>
                </c:pt>
                <c:pt idx="1">
                  <c:v>23.2</c:v>
                </c:pt>
                <c:pt idx="2">
                  <c:v>24.7</c:v>
                </c:pt>
                <c:pt idx="3">
                  <c:v>25.07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B1A1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1A1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6350" cap="flat">
              <a:solidFill>
                <a:srgbClr val="E3DC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807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4A251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4A2511"/>
                </a:solidFill>
                <a:latin typeface="+mn-lt"/>
              </a:rPr>
              <a:t>台灣醬油零售通路市佔率（2017）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醬油零售通路市佔率（2017）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5361F"/>
              </a:solidFill>
              <a:effectLst/>
            </c:spPr>
          </c:dPt>
          <c:dPt>
            <c:idx val="1"/>
            <c:bubble3D val="0"/>
            <c:spPr>
              <a:solidFill>
                <a:srgbClr val="D99A2B"/>
              </a:solidFill>
              <a:effectLst/>
            </c:spPr>
          </c:dPt>
          <c:dPt>
            <c:idx val="2"/>
            <c:bubble3D val="0"/>
            <c:spPr>
              <a:solidFill>
                <a:srgbClr val="D8CFC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2B1A12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2B1A12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2B1A12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龜甲萬（統一）</c:v>
                </c:pt>
                <c:pt idx="1">
                  <c:v>四季（統一）</c:v>
                </c:pt>
                <c:pt idx="2">
                  <c:v>其他品牌合計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21.2</c:v>
                </c:pt>
                <c:pt idx="1">
                  <c:v>14.6</c:v>
                </c:pt>
                <c:pt idx="2">
                  <c:v>64.2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1A1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4A251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4A2511"/>
                </a:solidFill>
                <a:latin typeface="+mn-lt"/>
              </a:rPr>
              <a:t>2025 年台灣零售業網路銷售佔比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 零售業銷售結構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5361F"/>
              </a:solidFill>
              <a:effectLst/>
            </c:spPr>
          </c:dPt>
          <c:dPt>
            <c:idx val="1"/>
            <c:bubble3D val="0"/>
            <c:spPr>
              <a:solidFill>
                <a:srgbClr val="D8CFC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2B1A12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2B1A12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網路銷售</c:v>
                </c:pt>
                <c:pt idx="1">
                  <c:v>實體及其他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13.9</c:v>
                </c:pt>
                <c:pt idx="1">
                  <c:v>86.1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1A1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4A251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4A2511"/>
                </a:solidFill>
                <a:latin typeface="+mn-lt"/>
              </a:rPr>
              <a:t>蘇丹紅事件累計下架封存量（公噸）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累計下架封存量（公噸）</c:v>
                </c:pt>
              </c:strCache>
            </c:strRef>
          </c:tx>
          <c:spPr>
            <a:solidFill>
              <a:srgbClr val="B5361F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1A1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2/26</c:v>
                  </c:pt>
                  <c:pt idx="1">
                    <c:v>3/10</c:v>
                  </c:pt>
                  <c:pt idx="2">
                    <c:v>3/19</c:v>
                  </c:pt>
                  <c:pt idx="3">
                    <c:v>3/26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19.4</c:v>
                </c:pt>
                <c:pt idx="1">
                  <c:v>162.9</c:v>
                </c:pt>
                <c:pt idx="2">
                  <c:v>537.2</c:v>
                </c:pt>
                <c:pt idx="3">
                  <c:v>595.1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200" u="none">
                  <a:solidFill>
                    <a:srgbClr val="2B1A1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1A1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  <c:min val="0"/>
        </c:scaling>
        <c:delete val="0"/>
        <c:axPos val="l"/>
        <c:majorGridlines>
          <c:spPr>
            <a:ln w="6350" cap="flat">
              <a:solidFill>
                <a:srgbClr val="E3DC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807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4A251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4A2511"/>
                </a:solidFill>
                <a:latin typeface="+mn-lt"/>
              </a:rPr>
              <a:t>台灣基本工資（月薪，新台幣元）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基本工資月薪（元）</c:v>
                </c:pt>
              </c:strCache>
            </c:strRef>
          </c:tx>
          <c:spPr>
            <a:solidFill>
              <a:srgbClr val="8A5A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1A1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2027（審議建議）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28590</c:v>
                </c:pt>
                <c:pt idx="1">
                  <c:v>29500</c:v>
                </c:pt>
                <c:pt idx="2">
                  <c:v>30900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B1A1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1A1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00"/>
          <c:min val="0"/>
        </c:scaling>
        <c:delete val="0"/>
        <c:axPos val="l"/>
        <c:majorGridlines>
          <c:spPr>
            <a:ln w="6350" cap="flat">
              <a:solidFill>
                <a:srgbClr val="E3DCD5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807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本報告依據公開產業資料研究，提出 MMH 在台灣調味料市場穩定成長與永續經營的策略建議。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請特別注意第三欄的限制：本報告未使用 MMH 內部數據，SWOT 與 KPI 目標為示例，需以公司實際數據校正。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一句話總結：本業守成、新引擎成長、基礎打穩。後續各頁依序展開產業環境、消費趨勢、風險、策略與執行。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市場研究機構的定義不同（香辛料、調味料、醬料），所以數字有落差；重點是各家都預測 5% 以上的年成長，高於台灣本土市場。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2011 與 2021 年數字來自不同出處，統計口徑可能不同，所以年均成長率僅作方向參考。台灣調味料最新年度產值在公開資料中找不到，建議向食品工業發展研究所購買最新《食品產業年鑑》。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市佔資料為 2017 年零售通路數據，年代較舊，但可說明大品牌集中的結構。若需最新數據可購買尼爾森（NielsenIQ）零售監測資料。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龜甲萬海外佔比 78% 為本報告依其海外營收 5,521 億日圓 ÷ 合併營收 7,090 億日圓計算。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每戶人口數有兩種口徑：內政部戶籍統計 2.37 人、主計總處家庭收支調查約 2.79 人（112 年）。無論哪個口徑，家戶都在變小。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減鈉不能只是把鹽拿掉，要用發酵鮮味、香辛料、酸味等補償風味。產品宣稱與標示須符合食品標示法規，上市前請法規顧問確認。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餐飲業營業額 2023 年約 1 兆元、2024 年約 1.04 兆元，數字來自整理經濟部統計的文章，建議再以統計處原始資料核對。大廠如統一也在搶業務用市場，MMH 的優勢在於彈性與客製速度。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整體零售微幅衰退，但網路銷售仍成長，代表消費者購物行為往線上移動。調味料單價低、重量重，電商宜用組合包提高客單價。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素食比例因統計口徑（是否含彈性素食）不同，介於 10% 到 18% 之間，13% 為最常被引用的數字。清真數字是全球穆斯林食品支出，不等於 MMH 可觸及的市場。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下架數字為食藥署在不同日期的累計公布，換算為公噸。調味料業者是香辛料最大使用者之一，必須把進料檢驗與供應商稽核當成核心競爭力。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2027 年 30,900 元為最低工資審議會 2026 年 9 月的建議，尚待行政院核定。2022 年黃豆進口量約 274.8 萬公噸。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碳費以門檻以上排放量計費。供應鏈要求是本報告的推論，非法規強制，但國際品牌與上市公司已普遍要求供應商提供碳排資料。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這頁是依台灣中小型調味料廠常見狀況寫的假設，請 MMH 經營團隊逐項確認、修改，作為後續策略優先順序的依據。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五根柱子是成長引擎，三個地基是永續經營的前提。地基沒打好，成長越快風險越大。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在成熟市場中，獲利往往被大量低效 SKU 稀釋。先把錢花在最會賺錢的產品上，再談新品。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新品要避免「做了很多，賣得很少」：先用電商小量測試、收集回購率，再放大到實體通路。減鈉宣稱需符合標示法規。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客戶集中度 20% 是常見的經驗法則，非法規要求，可依 MMH 財務承受度調整。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通路衝突最常見的是電商低價打亂實體價格。建議電商以組合包、限定口味區隔，而非單純降價。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各國食品進口法規不同，例如美國要求食品設施登錄與英文標示，進入前請委託專業顧問確認。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2024 蘇丹紅事件中，涉案業者疑似變造檢驗報告，因此高風險原料必須自主送驗。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ESG 不只是成本：節能直接降低電費與燃料費，碳盤查則是供應鏈的入場券。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「成功交棒要 10 年」是業界常見說法。接班不只是選人，還包括制度、股權與知識的傳承。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第一年不急著擴張，先把食安、產品組合、碳盤查、數位基礎打好。第二年開始投入新品與業務用，第三年再放大海外。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不在多，在於每月固定檢視並採取行動。建議每月經營會議以這張表開場。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第一個月最重要的是把內部數據整理出來，才能把本報告的假設換成 MMH 的真實狀況。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結語：調味料是長青產業，穩定成長靠的是品質、信任與紀律。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所有來源皆為公開網頁，點選來源名稱即可開啟。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MH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MH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MMH 穩定成長・永續經營 商業建議報告書｜2026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ctee.com.tw/news/20130410700199-439901" TargetMode="External"/><Relationship Id="rId2" Type="http://schemas.openxmlformats.org/officeDocument/2006/relationships/hyperlink" Target="https://www.foodnext.net/column/columnist/paper/5739756550" TargetMode="External"/><Relationship Id="rId3" Type="http://schemas.openxmlformats.org/officeDocument/2006/relationships/hyperlink" Target="https://www.tqf.org.tw/Uploads/Download/2022-11/%E8%AA%BF%E5%91%B3%E5%93%81%E7%9B%B8%E9%97%9C%E7%99%BC%E5%B1%95%E8%B6%A8%E5%8B%A2.pdf" TargetMode="External"/><Relationship Id="rId4" Type="http://schemas.openxmlformats.org/officeDocument/2006/relationships/hyperlink" Target="https://news.cnyes.com/news/id/3906634" TargetMode="External"/><Relationship Id="rId5" Type="http://schemas.openxmlformats.org/officeDocument/2006/relationships/hyperlink" Target="https://www.chinatimes.com/realtimenews/20170831002980-260410" TargetMode="External"/><Relationship Id="rId6" Type="http://schemas.openxmlformats.org/officeDocument/2006/relationships/hyperlink" Target="https://www.stockfeel.com.tw/?p=36847" TargetMode="External"/><Relationship Id="rId7" Type="http://schemas.openxmlformats.org/officeDocument/2006/relationships/hyperlink" Target="https://technews.tw/?p=154643" TargetMode="External"/><Relationship Id="rId8" Type="http://schemas.openxmlformats.org/officeDocument/2006/relationships/hyperlink" Target="https://www.gvm.com.tw/article/67916" TargetMode="External"/><Relationship Id="rId9" Type="http://schemas.openxmlformats.org/officeDocument/2006/relationships/hyperlink" Target="https://wantrich.chinatimes.com/news/20251023900567-420501" TargetMode="External"/><Relationship Id="rId10" Type="http://schemas.openxmlformats.org/officeDocument/2006/relationships/hyperlink" Target="https://www.taiwannews.com.tw/zh/news/6388725" TargetMode="External"/><Relationship Id="rId11" Type="http://schemas.openxmlformats.org/officeDocument/2006/relationships/hyperlink" Target="https://www.kikkoman.com/en/finance/assets/info202503_e.pdf" TargetMode="External"/><Relationship Id="rId12" Type="http://schemas.openxmlformats.org/officeDocument/2006/relationships/hyperlink" Target="https://quartr.com/events/kikkoman-corporation-2801-q4-2025_F3VYl0Sm" TargetMode="External"/><Relationship Id="rId13" Type="http://schemas.openxmlformats.org/officeDocument/2006/relationships/hyperlink" Target="https://www.gminsights.com/industry-analysis/seasonings-market" TargetMode="External"/><Relationship Id="rId14" Type="http://schemas.openxmlformats.org/officeDocument/2006/relationships/hyperlink" Target="https://rss.globenewswire.com/news-release/2025/10/14/3166406/0/en/Spices-and-Seasonings-Market-Size-Set-to-Reach-USD-45-04-Billion-by-2034-Driven-by-Globalization-and-Consumer-Trends.html" TargetMode="External"/><Relationship Id="rId15" Type="http://schemas.openxmlformats.org/officeDocument/2006/relationships/hyperlink" Target="https://www.marketresearch.com/Diligence-Insights-v4290/Seasoning-Spices-Size-Share-Trends-41621900" TargetMode="External"/><Relationship Id="rId16" Type="http://schemas.openxmlformats.org/officeDocument/2006/relationships/hyperlink" Target="https://www.reportprime.com/seasoning-and-spices-r5939.md" TargetMode="External"/><Relationship Id="rId17" Type="http://schemas.openxmlformats.org/officeDocument/2006/relationships/hyperlink" Target="https://www.mohw.gov.tw/cp-3163-28326-1.html" TargetMode="External"/><Relationship Id="rId18" Type="http://schemas.openxmlformats.org/officeDocument/2006/relationships/hyperlink" Target="https://mohw.gov.tw/cp-2704-21965-1.html" TargetMode="External"/><Relationship Id="rId19" Type="http://schemas.openxmlformats.org/officeDocument/2006/relationships/hyperlink" Target="https://www.thenewslens.com/feature/kikkoman-tw-2020/139174/" TargetMode="External"/><Relationship Id="rId20" Type="http://schemas.openxmlformats.org/officeDocument/2006/relationships/hyperlink" Target="https://kikkoman.com.tw/news_detal.php?id=153" TargetMode="External"/><Relationship Id="rId21" Type="http://schemas.openxmlformats.org/officeDocument/2006/relationships/hyperlink" Target="https://udn.com/news/story/7266/9254576" TargetMode="External"/><Relationship Id="rId22" Type="http://schemas.openxmlformats.org/officeDocument/2006/relationships/hyperlink" Target="https://www.worldjournal.com/wj/story/121221/9256941" TargetMode="External"/><Relationship Id="rId23" Type="http://schemas.openxmlformats.org/officeDocument/2006/relationships/hyperlink" Target="https://www.gvm.com.tw/article/133277" TargetMode="External"/><Relationship Id="rId24" Type="http://schemas.openxmlformats.org/officeDocument/2006/relationships/hyperlink" Target="https://money.udn.com/money/story/5621/9055396" TargetMode="External"/><Relationship Id="rId25" Type="http://schemas.openxmlformats.org/officeDocument/2006/relationships/hyperlink" Target="https://www.foodnext.net/life/culture/paper/5234763202" TargetMode="External"/><Relationship Id="rId26" Type="http://schemas.openxmlformats.org/officeDocument/2006/relationships/hyperlink" Target="https://www.gvm.com.tw/article/11745" TargetMode="External"/><Relationship Id="rId27" Type="http://schemas.openxmlformats.org/officeDocument/2006/relationships/hyperlink" Target="https://www.nownews.com/news/6727629" TargetMode="External"/><Relationship Id="rId28" Type="http://schemas.openxmlformats.org/officeDocument/2006/relationships/hyperlink" Target="https://www.wantgoo.com/blog/343059/post/245" TargetMode="External"/><Relationship Id="rId29" Type="http://schemas.openxmlformats.org/officeDocument/2006/relationships/hyperlink" Target="https://www.ctee.com.tw/news/20260127700708-431202" TargetMode="External"/><Relationship Id="rId30" Type="http://schemas.openxmlformats.org/officeDocument/2006/relationships/hyperlink" Target="https://www.bnext.com.tw/article/90039/2025-taiwan-retail-ecommerce-report" TargetMode="External"/><Relationship Id="rId31" Type="http://schemas.openxmlformats.org/officeDocument/2006/relationships/hyperlink" Target="https://www.thenewslens.com/article/243443" TargetMode="External"/><Relationship Id="rId32" Type="http://schemas.openxmlformats.org/officeDocument/2006/relationships/hyperlink" Target="https://www.foodnext.net/news/industry/paper/5470345880" TargetMode="External"/><Relationship Id="rId33" Type="http://schemas.openxmlformats.org/officeDocument/2006/relationships/hyperlink" Target="https://salaamgateway.com/story/halal-food-sector-snapshot-202425-2" TargetMode="External"/><Relationship Id="rId34" Type="http://schemas.openxmlformats.org/officeDocument/2006/relationships/hyperlink" Target="https://www.zawya.com/en/press-release/research-and-studies/state-of-the-global-islamic-economy-report-2024-25-released-bo1pzhzt" TargetMode="External"/><Relationship Id="rId35" Type="http://schemas.openxmlformats.org/officeDocument/2006/relationships/hyperlink" Target="https://www.foodnext.net/news/newsnow/paper/5739922151" TargetMode="External"/><Relationship Id="rId36" Type="http://schemas.openxmlformats.org/officeDocument/2006/relationships/hyperlink" Target="https://newtalk.tw/news/view/2024-03-20/912912" TargetMode="External"/><Relationship Id="rId37" Type="http://schemas.openxmlformats.org/officeDocument/2006/relationships/hyperlink" Target="https://mohw.gov.tw/cp-2704-29434-1.html" TargetMode="External"/><Relationship Id="rId38" Type="http://schemas.openxmlformats.org/officeDocument/2006/relationships/hyperlink" Target="https://news.pts.org.tw/article/772368" TargetMode="External"/><Relationship Id="rId39" Type="http://schemas.openxmlformats.org/officeDocument/2006/relationships/hyperlink" Target="https://wantrich.chinatimes.com/news/20251130900095-420501" TargetMode="External"/><Relationship Id="rId40" Type="http://schemas.openxmlformats.org/officeDocument/2006/relationships/hyperlink" Target="https://www.foodnext.net/news/newstrack/paper/6611198361" TargetMode="External"/><Relationship Id="rId41" Type="http://schemas.openxmlformats.org/officeDocument/2006/relationships/hyperlink" Target="https://udn.com/news/story/7266/9519109" TargetMode="External"/><Relationship Id="rId42" Type="http://schemas.openxmlformats.org/officeDocument/2006/relationships/hyperlink" Target="https://reccessary.com/zh-tw/news/world-market/taiwan-carbon-fee-analysis" TargetMode="External"/><Relationship Id="rId43" Type="http://schemas.openxmlformats.org/officeDocument/2006/relationships/hyperlink" Target="https://www.bnext.com.tw/article/80775/carbon-fee-how-much-2024" TargetMode="External"/><Relationship Id="rId44" Type="http://schemas.openxmlformats.org/officeDocument/2006/relationships/hyperlink" Target="https://finance.ettoday.net/news/2989744" TargetMode="External"/><Relationship Id="rId45" Type="http://schemas.openxmlformats.org/officeDocument/2006/relationships/hyperlink" Target="https://reccessary.com/zh-tw/news/world-regulation/taiwan-fsc-sustainability-reports-2025" TargetMode="External"/><Relationship Id="rId46" Type="http://schemas.openxmlformats.org/officeDocument/2006/relationships/hyperlink" Target="https://ec.ltn.com.tw/article/breakingnews/5466557" TargetMode="External"/><Relationship Id="rId47" Type="http://schemas.openxmlformats.org/officeDocument/2006/relationships/hyperlink" Target="https://www.ctee.com.tw/news/20260618700367-439901" TargetMode="External"/><Relationship Id="rId48" Type="http://schemas.openxmlformats.org/officeDocument/2006/relationships/hyperlink" Target="https://www.gvm.com.tw/article/67961" TargetMode="External"/><Relationship Id="rId49" Type="http://schemas.openxmlformats.org/officeDocument/2006/relationships/hyperlink" Target="https://finance.ettoday.net/news/1313983" TargetMode="External"/><Relationship Id="rId50" Type="http://schemas.openxmlformats.org/officeDocument/2006/relationships/hyperlink" Target="https://udn.com/news/story/7238/9524805" TargetMode="External"/><Relationship Id="rId51" Type="http://schemas.openxmlformats.org/officeDocument/2006/relationships/hyperlink" Target="https://www.fas.usda.gov/data/taiwan-2024-taiwan-agricultural-exports-summary" TargetMode="External"/><Relationship Id="rId52" Type="http://schemas.openxmlformats.org/officeDocument/2006/relationships/slideLayout" Target="../slideLayouts/slideLayout3.xml"/><Relationship Id="rId5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MMH 穩定成長・永續經營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調味料事業全方位商業建議報告書</a:t>
            </a:r>
            <a:endParaRPr lang="en-US" sz="2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2026 年 10 月｜以公開產業資料為基礎之策略建議</a:t>
            </a:r>
            <a:endParaRPr lang="en-US" sz="2000" dirty="0"/>
          </a:p>
        </p:txBody>
      </p:sp>
      <p:sp>
        <p:nvSpPr>
          <p:cNvPr id="4" name="icon-circle"/>
          <p:cNvSpPr/>
          <p:nvPr/>
        </p:nvSpPr>
        <p:spPr>
          <a:xfrm>
            <a:off x="731520" y="7315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" descr="FaFi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571" y="912571"/>
            <a:ext cx="460858" cy="4608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報告說明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研究範圍、資料來源與限制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3514039" cy="443484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icon" descr="Fa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187817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研究範圍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全球與台灣調味料市場、競爭格局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消費與通路趨勢（人口、健康、外食、電商）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風險：食安、成本、法規、ESG（環境、社會、公司治理 Environmental, Social, Governance）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MMH 策略、3 年路線圖與 KPI（關鍵績效指標 Key Performance Indicator）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336999" y="1508760"/>
            <a:ext cx="3514039" cy="443484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/>
        </p:spPr>
      </p:sp>
      <p:sp>
        <p:nvSpPr>
          <p:cNvPr id="10" name="icon-circle"/>
          <p:cNvSpPr/>
          <p:nvPr/>
        </p:nvSpPr>
        <p:spPr>
          <a:xfrm>
            <a:off x="4611319" y="17373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con" descr="FaClipboard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137" y="187817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88559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資料來源與驗證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11319" y="260604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政府機關：衛福部、內政部、勞動部、環境部、經濟部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上市公司財報：龜甲萬 Kikkoman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產業媒體與研究機構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關鍵數字盡量以 2 個以上來源交叉驗證；單一來源或年代較舊者在頁尾標註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125358" y="1508760"/>
            <a:ext cx="3514039" cy="443484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/>
        </p:spPr>
      </p:sp>
      <p:sp>
        <p:nvSpPr>
          <p:cNvPr id="15" name="icon-circle"/>
          <p:cNvSpPr/>
          <p:nvPr/>
        </p:nvSpPr>
        <p:spPr>
          <a:xfrm>
            <a:off x="8399678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" descr="FaExclamationTriang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1878178"/>
            <a:ext cx="358445" cy="35844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76918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重要限制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399678" y="260604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未取得 MMH 內部財務、產品、客戶資料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公司診斷（SWOT）為台灣中小型調味料廠常見情境之假設，需以實際數據校正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台灣調味料最新官方產值公開資料有限，部分數字為 2017–2021 年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執行摘要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守住核心、創造新成長、以食安與 ESG 打底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3931920" cy="4434840"/>
          </a:xfrm>
          <a:prstGeom prst="roundRect">
            <a:avLst>
              <a:gd name="adj" fmla="val 1860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核心訊息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台灣調味料是成熟市場，成長必須來自「高值化產品」、「業務用 B2B（企業對企業 Business to Business）」、「電商與海外」三個新引擎；而食安、成本與接班是決定能否永續的三道關卡。</a:t>
            </a:r>
            <a:endParaRPr lang="en-US" sz="1800" dirty="0"/>
          </a:p>
        </p:txBody>
      </p:sp>
      <p:sp>
        <p:nvSpPr>
          <p:cNvPr id="7" name="num-circle"/>
          <p:cNvSpPr/>
          <p:nvPr/>
        </p:nvSpPr>
        <p:spPr>
          <a:xfrm>
            <a:off x="4800600" y="1618488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00600" y="1618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577840" y="1527048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本土市場成熟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調味品產值 2011 年 175.5 億元 → 2021 年約 181 億元，十年幾近持平</a:t>
            </a:r>
            <a:endParaRPr lang="en-US" sz="1400" dirty="0"/>
          </a:p>
        </p:txBody>
      </p:sp>
      <p:sp>
        <p:nvSpPr>
          <p:cNvPr id="10" name="num-circle"/>
          <p:cNvSpPr/>
          <p:nvPr/>
        </p:nvSpPr>
        <p:spPr>
          <a:xfrm>
            <a:off x="4800600" y="2523744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00600" y="25237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2432304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成長在新市場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全球香辛料與調味料年成長約 5–7.5%；龜甲萬海外營收約佔 78%</a:t>
            </a:r>
            <a:endParaRPr lang="en-US" sz="1400" dirty="0"/>
          </a:p>
        </p:txBody>
      </p:sp>
      <p:sp>
        <p:nvSpPr>
          <p:cNvPr id="13" name="num-circle"/>
          <p:cNvSpPr/>
          <p:nvPr/>
        </p:nvSpPr>
        <p:spPr>
          <a:xfrm>
            <a:off x="4800600" y="34290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0060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33375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消費結構改變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65 歲以上人口 20.06%、外食約 7 成、電商佔零售 13.9%</a:t>
            </a:r>
            <a:endParaRPr lang="en-US" sz="1400" dirty="0"/>
          </a:p>
        </p:txBody>
      </p:sp>
      <p:sp>
        <p:nvSpPr>
          <p:cNvPr id="16" name="num-circle"/>
          <p:cNvSpPr/>
          <p:nvPr/>
        </p:nvSpPr>
        <p:spPr>
          <a:xfrm>
            <a:off x="4800600" y="4334256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00600" y="4334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4242816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經營風險升高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2024 蘇丹紅事件下架近 60 萬公斤；基本工資連年調升；碳費 2026 開徵</a:t>
            </a:r>
            <a:endParaRPr lang="en-US" sz="1400" dirty="0"/>
          </a:p>
        </p:txBody>
      </p:sp>
      <p:sp>
        <p:nvSpPr>
          <p:cNvPr id="19" name="num-circle"/>
          <p:cNvSpPr/>
          <p:nvPr/>
        </p:nvSpPr>
        <p:spPr>
          <a:xfrm>
            <a:off x="4800600" y="523951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00600" y="5239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5148072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建議行動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 大成長策略 + 3 大經營基礎，分 3 階段、3 年推動</a:t>
            </a:r>
            <a:endParaRPr lang="en-US" sz="1400" dirty="0"/>
          </a:p>
        </p:txBody>
      </p:sp>
      <p:sp>
        <p:nvSpPr>
          <p:cNvPr id="22" name="source"/>
          <p:cNvSpPr txBox="1"/>
          <p:nvPr/>
        </p:nvSpPr>
        <p:spPr>
          <a:xfrm>
            <a:off x="548640" y="610819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資料來源：詳見各頁頁尾與最後一頁參考資料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01 產業環境｜全球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全球調味料市場穩定成長，年增約 5–7.5%</a:t>
            </a:r>
            <a:endParaRPr lang="en-US" sz="3000" dirty="0"/>
          </a:p>
        </p:txBody>
      </p:sp>
      <p:graphicFrame>
        <p:nvGraphicFramePr>
          <p:cNvPr id="4" name="global-market-chart" descr="四家研究機構對2025年全球香辛料與調味料市場規模估計介於224億至251億美元"/>
          <p:cNvGraphicFramePr/>
          <p:nvPr/>
        </p:nvGraphicFramePr>
        <p:xfrm>
          <a:off x="548640" y="1508760"/>
          <a:ext cx="667512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icon-circle"/>
          <p:cNvSpPr/>
          <p:nvPr/>
        </p:nvSpPr>
        <p:spPr>
          <a:xfrm>
            <a:off x="7589520" y="155448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con" descr="FaGlobeAs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221" y="1675181"/>
            <a:ext cx="307238" cy="30723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321040" y="1508760"/>
            <a:ext cx="33192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規模約 220–250 億美元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各機構定義不同，但 2025 年估計值集中在此區間，年複合成長率（CAGR, Compound Annual Growth Rate）約 5–7.5%</a:t>
            </a:r>
            <a:endParaRPr lang="en-US" sz="1400" dirty="0"/>
          </a:p>
        </p:txBody>
      </p:sp>
      <p:sp>
        <p:nvSpPr>
          <p:cNvPr id="8" name="icon-circle"/>
          <p:cNvSpPr/>
          <p:nvPr/>
        </p:nvSpPr>
        <p:spPr>
          <a:xfrm>
            <a:off x="7589520" y="306324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9" name="icon" descr="FaUtensil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0221" y="3183941"/>
            <a:ext cx="307238" cy="30723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321040" y="3017520"/>
            <a:ext cx="33192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成長動能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異國風味全球化、餐飲業需求、健康與天然（clean label 潔淨標示）</a:t>
            </a:r>
            <a:endParaRPr lang="en-US" sz="1400" dirty="0"/>
          </a:p>
        </p:txBody>
      </p:sp>
      <p:sp>
        <p:nvSpPr>
          <p:cNvPr id="11" name="icon-circle"/>
          <p:cNvSpPr/>
          <p:nvPr/>
        </p:nvSpPr>
        <p:spPr>
          <a:xfrm>
            <a:off x="7589520" y="45720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FaBullsey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0221" y="4692701"/>
            <a:ext cx="307238" cy="30723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321040" y="4526280"/>
            <a:ext cx="33192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對 MMH 的意涵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只做台灣等於放棄全球平均 5% 以上的成長；海外與新品類是必要選項</a:t>
            </a:r>
            <a:endParaRPr lang="en-US" sz="1400" dirty="0"/>
          </a:p>
        </p:txBody>
      </p:sp>
      <p:sp>
        <p:nvSpPr>
          <p:cNvPr id="14" name="source"/>
          <p:cNvSpPr txBox="1"/>
          <p:nvPr/>
        </p:nvSpPr>
        <p:spPr>
          <a:xfrm>
            <a:off x="548640" y="610819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資料來源：Global Market Insights；Report Prime；Towards FnB（GlobeNewswire 2025/10）；Diligence Insights（MarketResearch.com）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01 產業環境｜台灣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台灣調味料市場成熟，十年產值幾近持平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2567635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175.5 億元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2011 年台灣調味品產值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17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工商時報引用《食品產業年鑑》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3390595" y="1508760"/>
            <a:ext cx="2567635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73475" y="1691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約 181 億元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573475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2021 年台灣調味品產值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73475" y="3017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食力引用經濟部統計；工業局稱與前一年持平</a:t>
            </a:r>
            <a:endParaRPr lang="en-US" sz="1100" dirty="0"/>
          </a:p>
        </p:txBody>
      </p:sp>
      <p:sp>
        <p:nvSpPr>
          <p:cNvPr id="12" name="card"/>
          <p:cNvSpPr/>
          <p:nvPr/>
        </p:nvSpPr>
        <p:spPr>
          <a:xfrm>
            <a:off x="6232550" y="1508760"/>
            <a:ext cx="2567635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15430" y="1691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25–30 億元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415430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醬油零售通路市場規模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15430" y="3017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2017 年鉅亨網、中國時報</a:t>
            </a:r>
            <a:endParaRPr lang="en-US" sz="1100" dirty="0"/>
          </a:p>
        </p:txBody>
      </p:sp>
      <p:sp>
        <p:nvSpPr>
          <p:cNvPr id="16" name="card"/>
          <p:cNvSpPr/>
          <p:nvPr/>
        </p:nvSpPr>
        <p:spPr>
          <a:xfrm>
            <a:off x="9074506" y="1508760"/>
            <a:ext cx="2567635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57386" y="1691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1 兆元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257386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2024 年台灣食品產業產值突破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257386" y="3017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經濟部國貿署（中時、台灣英文新聞）</a:t>
            </a:r>
            <a:endParaRPr lang="en-US" sz="1100" dirty="0"/>
          </a:p>
        </p:txBody>
      </p:sp>
      <p:sp>
        <p:nvSpPr>
          <p:cNvPr id="20" name="card"/>
          <p:cNvSpPr/>
          <p:nvPr/>
        </p:nvSpPr>
        <p:spPr>
          <a:xfrm>
            <a:off x="548640" y="4023360"/>
            <a:ext cx="11091672" cy="19202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/>
        </p:spPr>
      </p:sp>
      <p:sp>
        <p:nvSpPr>
          <p:cNvPr id="21" name="icon-circle"/>
          <p:cNvSpPr/>
          <p:nvPr/>
        </p:nvSpPr>
        <p:spPr>
          <a:xfrm>
            <a:off x="868680" y="43434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icon" descr="Fa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" y="4494276"/>
            <a:ext cx="384048" cy="384048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783080" y="420624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解讀：成熟市場的成長只能靠三件事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依上述兩個產值推算，十年年均成長約 0.3%（口徑可能不同，僅供參考），與整體食品業破兆的規模相比，調味品是穩定但不擴張的市場。MMH 的成長來源只有：① 從對手手中搶市佔 ② 提高單價（高值化、健康化） ③ 開拓新通路與新市場（業務用、電商、海外）。</a:t>
            </a:r>
            <a:endParaRPr lang="en-US" sz="1400" dirty="0"/>
          </a:p>
        </p:txBody>
      </p:sp>
      <p:sp>
        <p:nvSpPr>
          <p:cNvPr id="24" name="source"/>
          <p:cNvSpPr txBox="1"/>
          <p:nvPr/>
        </p:nvSpPr>
        <p:spPr>
          <a:xfrm>
            <a:off x="548640" y="610819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資料來源：工商時報 2013/4/10；食力 foodNEXT；經濟部工業局 110 年度調味品發展趨勢；鉅亨網；中國時報 2017/8/31、2025/10/23；台灣英文新聞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01 產業環境｜競爭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醬油主流市場由大品牌主導，中小廠需走差異化</a:t>
            </a:r>
            <a:endParaRPr lang="en-US" sz="3000" dirty="0"/>
          </a:p>
        </p:txBody>
      </p:sp>
      <p:graphicFrame>
        <p:nvGraphicFramePr>
          <p:cNvPr id="4" name="soy-share-chart" descr="統一旗下龜甲萬21.2%、四季14.6%，合計35.8%"/>
          <p:cNvGraphicFramePr/>
          <p:nvPr/>
        </p:nvGraphicFramePr>
        <p:xfrm>
          <a:off x="548640" y="1508760"/>
          <a:ext cx="493776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852160" y="1554480"/>
            <a:ext cx="5788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統一集團合計約 35.8%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旗下龜甲萬 21.2%、四季 14.6%；與日本龜甲萬合資「統萬」，並積極衝刺業務用市場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852160" y="2578608"/>
            <a:ext cx="5788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前 5 大品牌囊括 7–8 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萬家香、金蘭、統一、味王、味全合計約 70–80% 市佔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3602736"/>
            <a:ext cx="5788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萬家香：純釀造約 3 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2022 年分析指萬家香在純釀造醬油市場約佔三成（單一來源）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5852160" y="4709160"/>
            <a:ext cx="5788152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035040" y="480060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意涵：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在主流醬油正面對決，中小廠會被通路上架費與促銷戰消耗。MMH 應聚焦「大廠不想做、做不細」的利基：特色醬料、地方風味、業務用客製、健康機能。</a:t>
            </a:r>
            <a:endParaRPr lang="en-US" sz="1400" dirty="0"/>
          </a:p>
        </p:txBody>
      </p:sp>
      <p:sp>
        <p:nvSpPr>
          <p:cNvPr id="10" name="source"/>
          <p:cNvSpPr txBox="1"/>
          <p:nvPr/>
        </p:nvSpPr>
        <p:spPr>
          <a:xfrm>
            <a:off x="548640" y="610819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資料來源：鉅亨網〈台灣醬油市場群雄割據 統一市占居冠〉；中國時報 2017/8/31；東森財經；股感 StockFeel（2022）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01 產業環境｜標竿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標竿學習：萬家香重投資品質，龜甲萬靠海外成長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5408676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22960" y="173736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con" descr="FaIndust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8882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7373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萬家香（台灣）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2016 年起逆勢投資逾 5 億元興建屏東新廠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廠區約 1.5 萬坪，強調 100% 純釀造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屋頂架設太陽能板，結合再生能源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在純釀造醬油市場取得領先地位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6231636" y="1508760"/>
            <a:ext cx="5408676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10" name="icon-circle"/>
          <p:cNvSpPr/>
          <p:nvPr/>
        </p:nvSpPr>
        <p:spPr>
          <a:xfrm>
            <a:off x="6505956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FaGlobeAs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88823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74636" y="17373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龜甲萬 Kikkoman（日本）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505956" y="2606040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2025 會計年度營收 7,090 億日圓（+7.3%）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海外營收 5,521 億日圓，約佔 78%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營業利益 737 億日圓（+10.4%）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長期在美國等地設廠、在地生產</a:t>
            </a:r>
            <a:endParaRPr lang="en-US" sz="1600" dirty="0"/>
          </a:p>
        </p:txBody>
      </p:sp>
      <p:sp>
        <p:nvSpPr>
          <p:cNvPr id="14" name="card"/>
          <p:cNvSpPr/>
          <p:nvPr/>
        </p:nvSpPr>
        <p:spPr>
          <a:xfrm>
            <a:off x="548640" y="4754880"/>
            <a:ext cx="11091672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22960" y="4846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MMH 可借鏡：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① 品質與工藝是品牌信任的根本，值得長期投資；② 綠能與 ESG 可同時降本與加分；③ 國際化需要耐心與在地化，可從海外華人與亞洲食品通路起步。</a:t>
            </a:r>
            <a:endParaRPr lang="en-US" sz="1500" dirty="0"/>
          </a:p>
        </p:txBody>
      </p:sp>
      <p:sp>
        <p:nvSpPr>
          <p:cNvPr id="16" name="source"/>
          <p:cNvSpPr txBox="1"/>
          <p:nvPr/>
        </p:nvSpPr>
        <p:spPr>
          <a:xfrm>
            <a:off x="548640" y="610819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資料來源：科技新報 2016/5；遠見雜誌；Kikkoman FY2025 決算資料（kikkoman.com）；Quartr Kikkoman Q4 2025 摘要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02 消費趨勢｜人口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超高齡、少子化、小家庭：需求從「量」轉向「質」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51206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20.06%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64592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65 歲以上人口佔比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2025 年底台灣正式進入超高齡社會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548640" y="3017520"/>
            <a:ext cx="51206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31546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10.8 萬人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315468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2025 年出生數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創歷史新低，人口連兩年負成長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548640" y="4526280"/>
            <a:ext cx="51206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466344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2.37 人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466344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平均每戶人口（戶籍）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一人戶佔戶籍家戶約 41%；家庭收支調查口徑為 2.79 人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1508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對產品的影響</a:t>
            </a:r>
            <a:endParaRPr lang="en-US" sz="1800" dirty="0"/>
          </a:p>
        </p:txBody>
      </p:sp>
      <p:sp>
        <p:nvSpPr>
          <p:cNvPr id="14" name="icon-circle"/>
          <p:cNvSpPr/>
          <p:nvPr/>
        </p:nvSpPr>
        <p:spPr>
          <a:xfrm>
            <a:off x="6126480" y="2103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FaBoxOp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7181" y="2223821"/>
            <a:ext cx="307238" cy="30723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858000" y="2011680"/>
            <a:ext cx="4782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小包裝、多口味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小家庭與一人戶用量少，大瓶裝易過期</a:t>
            </a:r>
            <a:endParaRPr lang="en-US" sz="1400" dirty="0"/>
          </a:p>
        </p:txBody>
      </p:sp>
      <p:sp>
        <p:nvSpPr>
          <p:cNvPr id="17" name="icon-circle"/>
          <p:cNvSpPr/>
          <p:nvPr/>
        </p:nvSpPr>
        <p:spPr>
          <a:xfrm>
            <a:off x="6126480" y="309067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con" descr="FaBlend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7181" y="3211373"/>
            <a:ext cx="307238" cy="30723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858000" y="2999232"/>
            <a:ext cx="4782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即用型調理醬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「一醬成菜」節省烹調時間與技巧門檻</a:t>
            </a:r>
            <a:endParaRPr lang="en-US" sz="1400" dirty="0"/>
          </a:p>
        </p:txBody>
      </p:sp>
      <p:sp>
        <p:nvSpPr>
          <p:cNvPr id="20" name="icon-circle"/>
          <p:cNvSpPr/>
          <p:nvPr/>
        </p:nvSpPr>
        <p:spPr>
          <a:xfrm>
            <a:off x="6126480" y="4078224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icon" descr="FaHeartbea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7181" y="4198925"/>
            <a:ext cx="307238" cy="30723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858000" y="3986784"/>
            <a:ext cx="4782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銀髮友善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減鈉、易開瓶、大字標示、鮮味補償味覺退化</a:t>
            </a:r>
            <a:endParaRPr lang="en-US" sz="1400" dirty="0"/>
          </a:p>
        </p:txBody>
      </p:sp>
      <p:sp>
        <p:nvSpPr>
          <p:cNvPr id="23" name="icon-circle"/>
          <p:cNvSpPr/>
          <p:nvPr/>
        </p:nvSpPr>
        <p:spPr>
          <a:xfrm>
            <a:off x="6126480" y="5065776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4" name="icon" descr="FaChartLi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7181" y="5186477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858000" y="4974336"/>
            <a:ext cx="4782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以價值換成長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總人口減少，需靠提升單價與新市場維持營收</a:t>
            </a:r>
            <a:endParaRPr lang="en-US" sz="1400" dirty="0"/>
          </a:p>
        </p:txBody>
      </p:sp>
      <p:sp>
        <p:nvSpPr>
          <p:cNvPr id="26" name="source"/>
          <p:cNvSpPr txBox="1"/>
          <p:nvPr/>
        </p:nvSpPr>
        <p:spPr>
          <a:xfrm>
            <a:off x="548640" y="610819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資料來源：聯合報、世界日報、公視（引用內政部 2025 年底戶口統計）；遠見雜誌；經濟日報（主計總處家庭收支調查）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02 消費趨勢｜健康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減鈉是長期趨勢：「減鹽不減味」是產品機會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3566160" cy="4434840"/>
          </a:xfrm>
          <a:prstGeom prst="roundRect">
            <a:avLst>
              <a:gd name="adj" fmla="val 2051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2,400 mg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衛福部建議成人每日鈉攝取上限（約等於食鹽 6 公克）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1.9 倍以上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4348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國高中與 19–30 歲男性的鈉攝取量達建議值 1.9 倍以上（國健署引用 2005–2011 年調查）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5087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市場訊號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1965960"/>
            <a:ext cx="71597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國健署自 2008 年起推動全民減鹽，並提醒民眾注意包裝食品鈉含量標示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多家醬油大廠推出低鈉薄鹽醬油；龜甲萬薄鹽系列含鹽量較一般醬油減少 3–4 成，2019 年銷量約 200 萬瓶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部分業者主打不添加鉀鹽代鹽，顯示消費者對代鹽成分也有疑慮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40690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MMH 產品機會</a:t>
            </a:r>
            <a:endParaRPr lang="en-US" sz="1800" dirty="0"/>
          </a:p>
        </p:txBody>
      </p:sp>
      <p:sp>
        <p:nvSpPr>
          <p:cNvPr id="12" name="card"/>
          <p:cNvSpPr/>
          <p:nvPr/>
        </p:nvSpPr>
        <p:spPr>
          <a:xfrm>
            <a:off x="4480560" y="4526280"/>
            <a:ext cx="1673352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3" name="icon-circle"/>
          <p:cNvSpPr/>
          <p:nvPr/>
        </p:nvSpPr>
        <p:spPr>
          <a:xfrm>
            <a:off x="5047488" y="4645152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icon" descr="FaSeedl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8189" y="4765853"/>
            <a:ext cx="307238" cy="30723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553712" y="5257800"/>
            <a:ext cx="1527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天然鮮味補償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6291072" y="4526280"/>
            <a:ext cx="1673352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7" name="icon-circle"/>
          <p:cNvSpPr/>
          <p:nvPr/>
        </p:nvSpPr>
        <p:spPr>
          <a:xfrm>
            <a:off x="6858000" y="4645152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8" name="icon" descr="FaFlas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701" y="4765853"/>
            <a:ext cx="307238" cy="30723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364224" y="5257800"/>
            <a:ext cx="1527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減鈉配方研發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8101584" y="4526280"/>
            <a:ext cx="1673352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21" name="icon-circle"/>
          <p:cNvSpPr/>
          <p:nvPr/>
        </p:nvSpPr>
        <p:spPr>
          <a:xfrm>
            <a:off x="8668512" y="4645152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icon" descr="FaLea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9213" y="4765853"/>
            <a:ext cx="307238" cy="30723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174736" y="5257800"/>
            <a:ext cx="1527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少添加 / 潔淨標示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9912096" y="4526280"/>
            <a:ext cx="1673352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25" name="icon-circle"/>
          <p:cNvSpPr/>
          <p:nvPr/>
        </p:nvSpPr>
        <p:spPr>
          <a:xfrm>
            <a:off x="10479024" y="4645152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6" name="icon" descr="FaClipboar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9725" y="4765853"/>
            <a:ext cx="307238" cy="30723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985248" y="5257800"/>
            <a:ext cx="1527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標示透明化</a:t>
            </a:r>
            <a:endParaRPr lang="en-US" sz="1400" dirty="0"/>
          </a:p>
        </p:txBody>
      </p:sp>
      <p:sp>
        <p:nvSpPr>
          <p:cNvPr id="28" name="source"/>
          <p:cNvSpPr txBox="1"/>
          <p:nvPr/>
        </p:nvSpPr>
        <p:spPr>
          <a:xfrm>
            <a:off x="548640" y="610819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資料來源：衛生福利部／國民健康署（mohw.gov.tw 多篇）；關鍵評論網〈從台灣人氣薄鹽醬油看食品業者如何跟上飲食新潮流〉；台灣龜甲萬官網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02 消費趨勢｜外食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外食約 7 成、餐飲業破兆：業務用市場是成長引擎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3514039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約 7 成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國人外食比例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多項調查顯示早餐與午餐外食比例最高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336999" y="1508760"/>
            <a:ext cx="3514039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65599" y="16459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約 1 兆元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565599" y="24231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餐飲業年營業額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2022–2024 年連 3 年創新高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125358" y="1508760"/>
            <a:ext cx="3514039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53958" y="16459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8.3% → 9.9%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8353958" y="24231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餐廳及住宿佔民間消費比重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2006–2015 平均 → 2016–2025 平均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566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業務用（餐飲／食品廠）需求的三種型態</a:t>
            </a:r>
            <a:endParaRPr lang="en-US" sz="1800" dirty="0"/>
          </a:p>
        </p:txBody>
      </p:sp>
      <p:sp>
        <p:nvSpPr>
          <p:cNvPr id="14" name="icon-circle"/>
          <p:cNvSpPr/>
          <p:nvPr/>
        </p:nvSpPr>
        <p:spPr>
          <a:xfrm>
            <a:off x="548640" y="41148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FaSt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4245559"/>
            <a:ext cx="332842" cy="33284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280160" y="4069080"/>
            <a:ext cx="2788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連鎖餐飲客製醬料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標準化口味、跨店一致，常以 ODM（委託設計製造 Original Design Manufacturing）合作</a:t>
            </a:r>
            <a:endParaRPr lang="en-US" sz="1400" dirty="0"/>
          </a:p>
        </p:txBody>
      </p:sp>
      <p:sp>
        <p:nvSpPr>
          <p:cNvPr id="17" name="icon-circle"/>
          <p:cNvSpPr/>
          <p:nvPr/>
        </p:nvSpPr>
        <p:spPr>
          <a:xfrm>
            <a:off x="4336999" y="411480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8" name="icon" descr="FaWarehou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758" y="4245559"/>
            <a:ext cx="332842" cy="33284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068519" y="4069080"/>
            <a:ext cx="2788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中央廚房大包裝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大容量、耐儲存、易操作，降低廚房人力</a:t>
            </a:r>
            <a:endParaRPr lang="en-US" sz="1400" dirty="0"/>
          </a:p>
        </p:txBody>
      </p:sp>
      <p:sp>
        <p:nvSpPr>
          <p:cNvPr id="20" name="icon-circle"/>
          <p:cNvSpPr/>
          <p:nvPr/>
        </p:nvSpPr>
        <p:spPr>
          <a:xfrm>
            <a:off x="8125358" y="411480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icon" descr="FaIndust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118" y="4245559"/>
            <a:ext cx="332842" cy="33284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856878" y="4069080"/>
            <a:ext cx="2788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食品廠原料供應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供應調理食品、冷凍食品、零食的調味原料</a:t>
            </a:r>
            <a:endParaRPr lang="en-US" sz="1400" dirty="0"/>
          </a:p>
        </p:txBody>
      </p:sp>
      <p:sp>
        <p:nvSpPr>
          <p:cNvPr id="23" name="source"/>
          <p:cNvSpPr txBox="1"/>
          <p:nvPr/>
        </p:nvSpPr>
        <p:spPr>
          <a:xfrm>
            <a:off x="548640" y="610819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資料來源：食力 foodNEXT；遠見雜誌；NOWnews（引用經濟部統計處）；玩股網（整理經濟部餐飲業營業額）；鉅亨網（統一衝刺業務用市場）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02 消費趨勢｜通路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電商佔零售近 14%，品牌直營與內容行銷不可缺</a:t>
            </a:r>
            <a:endParaRPr lang="en-US" sz="3000" dirty="0"/>
          </a:p>
        </p:txBody>
      </p:sp>
      <p:graphicFrame>
        <p:nvGraphicFramePr>
          <p:cNvPr id="4" name="ecom-chart" descr="2025年網路銷售佔零售業13.9%"/>
          <p:cNvGraphicFramePr/>
          <p:nvPr/>
        </p:nvGraphicFramePr>
        <p:xfrm>
          <a:off x="548640" y="1508760"/>
          <a:ext cx="438912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5303520" y="1508760"/>
            <a:ext cx="201168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40680" y="1600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6,716 億元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40680" y="22402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2025 年零售業網路銷售額（年增 2.8%）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7452360" y="1508760"/>
            <a:ext cx="201168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589520" y="1600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14.8%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22402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2025 年第 4 季電商佔比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9601200" y="1508760"/>
            <a:ext cx="201168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738360" y="1600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−0.2%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9738360" y="22402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2025 年零售業整體營業額年增率（4 兆 8,448 億元）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303520" y="347472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MMH 的通路作法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303520" y="3931920"/>
            <a:ext cx="63367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實體通路守住主力 SKU（最小存貨單位 Stock Keeping Unit），電商放新品、組合包、禮盒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品牌官網 D2C（直接面對消費者 Direct to Consumer）累積會員資料與回購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食譜短影音、團購主合作：調味料「教怎麼用」比「說多好吃」更有效</a:t>
            </a:r>
            <a:endParaRPr lang="en-US" sz="1400" dirty="0"/>
          </a:p>
        </p:txBody>
      </p:sp>
      <p:sp>
        <p:nvSpPr>
          <p:cNvPr id="16" name="source"/>
          <p:cNvSpPr txBox="1"/>
          <p:nvPr/>
        </p:nvSpPr>
        <p:spPr>
          <a:xfrm>
            <a:off x="548640" y="610819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資料來源：工商時報 2026/1/27、數位時代〈2025 台灣零售電商報告〉（引用經濟部統計處）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02 消費趨勢｜利基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素食與清真：兩個被低估的利基市場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5408676" cy="4434840"/>
          </a:xfrm>
          <a:prstGeom prst="roundRect">
            <a:avLst>
              <a:gd name="adj" fmla="val 1649"/>
            </a:avLst>
          </a:prstGeom>
          <a:solidFill>
            <a:schemeClr val="bg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con" descr="FaLea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187817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7373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素食市場（台灣）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約 13%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91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台灣素食人口佔比，約 299 萬人（2019 年，食品所資料）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023360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素食人口比例在全球名列前茅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素食調味醬（素蠔油、素沙茶等）需求穩定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可與宗教節慶、素食餐廳合作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231636" y="1508760"/>
            <a:ext cx="5408676" cy="4434840"/>
          </a:xfrm>
          <a:prstGeom prst="roundRect">
            <a:avLst>
              <a:gd name="adj" fmla="val 1649"/>
            </a:avLst>
          </a:prstGeom>
          <a:solidFill>
            <a:schemeClr val="bg2"/>
          </a:solidFill>
          <a:ln/>
        </p:spPr>
      </p:sp>
      <p:sp>
        <p:nvSpPr>
          <p:cNvPr id="12" name="icon-circle"/>
          <p:cNvSpPr/>
          <p:nvPr/>
        </p:nvSpPr>
        <p:spPr>
          <a:xfrm>
            <a:off x="6505956" y="173736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icon" descr="FaMos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774" y="1878178"/>
            <a:ext cx="358445" cy="35844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328916" y="17373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清真市場（全球）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6505956" y="25603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5"/>
                </a:solidFill>
              </a:rPr>
              <a:t>1.53 兆美元</a:t>
            </a:r>
            <a:endParaRPr lang="en-US" sz="3600" dirty="0"/>
          </a:p>
        </p:txBody>
      </p:sp>
      <p:sp>
        <p:nvSpPr>
          <p:cNvPr id="16" name="Text 12"/>
          <p:cNvSpPr txBox="1"/>
          <p:nvPr/>
        </p:nvSpPr>
        <p:spPr>
          <a:xfrm>
            <a:off x="6505956" y="3291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2024 年全球穆斯林食品支出，預估 2029 年達 2.06 兆美元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505956" y="4023360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印尼為全球最大穆斯林食品消費市場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清真（Halal）認證是進入東南亞、中東的門票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台灣口味醬料可作差異化切入</a:t>
            </a:r>
            <a:endParaRPr lang="en-US" sz="1400" dirty="0"/>
          </a:p>
        </p:txBody>
      </p:sp>
      <p:sp>
        <p:nvSpPr>
          <p:cNvPr id="18" name="source"/>
          <p:cNvSpPr txBox="1"/>
          <p:nvPr/>
        </p:nvSpPr>
        <p:spPr>
          <a:xfrm>
            <a:off x="548640" y="610819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資料來源：關鍵評論網、食力 foodNEXT（引用食品工業發展研究所）；DinarStandard《State of the Global Islamic Economy 2025/26》（Salaam Gateway、Zawya）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風險｜食安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2024 蘇丹紅事件：上游原料一出事，下游全受牽連</a:t>
            </a:r>
            <a:endParaRPr lang="en-US" sz="3000" dirty="0"/>
          </a:p>
        </p:txBody>
      </p:sp>
      <p:graphicFrame>
        <p:nvGraphicFramePr>
          <p:cNvPr id="4" name="sudan-chart" descr="下架封存量從2月26日19.4公噸增至3月26日595.1公噸"/>
          <p:cNvGraphicFramePr/>
          <p:nvPr/>
        </p:nvGraphicFramePr>
        <p:xfrm>
          <a:off x="548640" y="1508760"/>
          <a:ext cx="548640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0" y="15087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事件重點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1920240"/>
            <a:ext cx="5239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問題辣椒粉原料來自中國與越南，經進口商流向多家下游業者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涉案業者疑似變造檢驗報告，下游僅憑文件無法把關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食藥署設專區公開違規業者、品項與下架總量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6400800" y="3794760"/>
            <a:ext cx="5239512" cy="2148840"/>
          </a:xfrm>
          <a:prstGeom prst="roundRect">
            <a:avLst>
              <a:gd name="adj" fmla="val 3404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629400" y="393192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法規提醒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《食品安全衛生管理法》第 9 條要求公告類別業者建立追溯追蹤系統；資料不實或屆期未改正，可處新台幣 3 萬至 300 萬元罰鍰，情節重大可命停業或廢止登錄。</a:t>
            </a:r>
            <a:endParaRPr lang="en-US" sz="1400" dirty="0"/>
          </a:p>
        </p:txBody>
      </p:sp>
      <p:sp>
        <p:nvSpPr>
          <p:cNvPr id="9" name="source"/>
          <p:cNvSpPr txBox="1"/>
          <p:nvPr/>
        </p:nvSpPr>
        <p:spPr>
          <a:xfrm>
            <a:off x="548640" y="610819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資料來源：食力 foodNEXT 2024/2–3 月多篇；新頭殼 newtalk 2024/2/26、3/20；衛生福利部〈食品追溯追蹤〉公告說明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風險｜成本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原料高度仰賴進口、人力成本連年上升</a:t>
            </a:r>
            <a:endParaRPr lang="en-US" sz="3000" dirty="0"/>
          </a:p>
        </p:txBody>
      </p:sp>
      <p:graphicFrame>
        <p:nvGraphicFramePr>
          <p:cNvPr id="4" name="wage-chart" descr="基本工資由2025年28590元升至2026年29500元，2027年審議建議30900元"/>
          <p:cNvGraphicFramePr/>
          <p:nvPr/>
        </p:nvGraphicFramePr>
        <p:xfrm>
          <a:off x="548640" y="1508760"/>
          <a:ext cx="530352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6217920" y="1508760"/>
            <a:ext cx="1746504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309360" y="1600200"/>
            <a:ext cx="1563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99%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2286000"/>
            <a:ext cx="1563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黃豆仰賴進口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8065008" y="1508760"/>
            <a:ext cx="1746504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156448" y="1600200"/>
            <a:ext cx="1563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64.4%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8156448" y="2286000"/>
            <a:ext cx="1563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美國佔進口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（2022）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9912096" y="1508760"/>
            <a:ext cx="1746504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003536" y="1600200"/>
            <a:ext cx="1563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32.4%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10003536" y="2286000"/>
            <a:ext cx="1563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巴西佔進口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（2022）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32918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因應作法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3703320"/>
            <a:ext cx="542239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主要原料簽訂中長期合約、分散產地與供應商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建立「成本指數連動」的價格調整機制，與通路、業務用客戶事先約定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包裝、裝箱、搬運優先自動化，降低對人力的依賴</a:t>
            </a:r>
            <a:endParaRPr lang="en-US" sz="1400" dirty="0"/>
          </a:p>
        </p:txBody>
      </p:sp>
      <p:sp>
        <p:nvSpPr>
          <p:cNvPr id="16" name="source"/>
          <p:cNvSpPr txBox="1"/>
          <p:nvPr/>
        </p:nvSpPr>
        <p:spPr>
          <a:xfrm>
            <a:off x="548640" y="610819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資料來源：公視新聞、中時新聞網（勞動部最低工資審議）；食力 foodNEXT、聯合報（黃豆進口與自給率，2022 年海關資料）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風險｜ESG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碳費開徵與永續揭露：大客戶會把要求傳到供應鏈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5408676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22960" y="169164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con" descr="FaRecy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18223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6916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碳費 2026 年起收費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對象：年排放達 2.5 萬公噸 CO2e（二氧化碳當量）以上的電力、燃氣與製造業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一般費率每公噸新台幣 300 元，原則分階段調升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提出自主減量計畫可適用優惠費率（50 元、100 元）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231636" y="1508760"/>
            <a:ext cx="5408676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/>
        </p:spPr>
      </p:sp>
      <p:sp>
        <p:nvSpPr>
          <p:cNvPr id="10" name="icon-circle"/>
          <p:cNvSpPr/>
          <p:nvPr/>
        </p:nvSpPr>
        <p:spPr>
          <a:xfrm>
            <a:off x="6505956" y="169164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icon" descr="FaClipboard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715" y="18223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3196" y="16916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永續報告書全面化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505956" y="2423160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2025 年起，實收資本額 20 億元以下的上市櫃公司也須編製永續報告書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約 1,869 家公司適用，未如期申報可處違約金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範疇三（Scope 3，供應鏈排放）目前為自願揭露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4572000"/>
            <a:ext cx="11091672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22960" y="466344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對 MMH 的意涵（本報告研判）：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中小型調味料廠多半低於碳費門檻，但上市櫃食品廠、量販與連鎖餐飲客戶為了自身揭露，可預期會向供應商要求碳排與永續資料。提早做碳盤查，是保住大客戶與爭取新訂單的條件。</a:t>
            </a:r>
            <a:endParaRPr lang="en-US" sz="1400" dirty="0"/>
          </a:p>
        </p:txBody>
      </p:sp>
      <p:sp>
        <p:nvSpPr>
          <p:cNvPr id="16" name="source"/>
          <p:cNvSpPr txBox="1"/>
          <p:nvPr/>
        </p:nvSpPr>
        <p:spPr>
          <a:xfrm>
            <a:off x="548640" y="610819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資料來源：Reccessary 碳費分析、數位時代 2024（環境部碳費三子法）；ETtoday 財經雲、Reccessary（金管會永續報告書規定）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04 策略｜診斷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SWOT 分析（假設情境，請以 MMH 實際狀況校正）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5408676" cy="2130552"/>
          </a:xfrm>
          <a:prstGeom prst="roundRect">
            <a:avLst>
              <a:gd name="adj" fmla="val 3433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S 優勢 Strengths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在地口味配方與釀造 know-how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決策快、可小量客製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長期客戶與通路關係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品牌在地情感連結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6231636" y="1508760"/>
            <a:ext cx="5408676" cy="2130552"/>
          </a:xfrm>
          <a:prstGeom prst="roundRect">
            <a:avLst>
              <a:gd name="adj" fmla="val 3433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05956" y="1645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W 劣勢 Weaknesses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05956" y="210312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品牌知名度與行銷預算有限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規模小，原料採購議價力弱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數位行銷與電商能力不足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人才招募與接班準備不足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548640" y="3776472"/>
            <a:ext cx="5408676" cy="2130552"/>
          </a:xfrm>
          <a:prstGeom prst="roundRect">
            <a:avLst>
              <a:gd name="adj" fmla="val 3433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9136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O 機會 Opportunities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70832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減鈉、潔淨標示等健康需求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外食與連鎖餐飲業務用需求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電商 D2C、海外華人與清真市場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政府 SBIR 與轉型補助資源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231636" y="3776472"/>
            <a:ext cx="5408676" cy="2130552"/>
          </a:xfrm>
          <a:prstGeom prst="roundRect">
            <a:avLst>
              <a:gd name="adj" fmla="val 3433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05956" y="39136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 威脅 Threats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05956" y="4370832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大廠價格戰與通路上架費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原料、匯率、地緣政治波動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缺工與基本工資上升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上游食安事件連帶衝擊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04 策略｜總覽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策略藍圖：5 大成長策略 + 3 大經營基礎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願景：成為台灣最值得信賴的風味專家 — 穩定成長、永續經營</a:t>
            </a:r>
            <a:endParaRPr lang="en-US" sz="2000" dirty="0"/>
          </a:p>
        </p:txBody>
      </p:sp>
      <p:sp>
        <p:nvSpPr>
          <p:cNvPr id="6" name="card"/>
          <p:cNvSpPr/>
          <p:nvPr/>
        </p:nvSpPr>
        <p:spPr>
          <a:xfrm>
            <a:off x="548640" y="2377440"/>
            <a:ext cx="2071116" cy="2331720"/>
          </a:xfrm>
          <a:prstGeom prst="roundRect">
            <a:avLst>
              <a:gd name="adj" fmla="val 3532"/>
            </a:avLst>
          </a:prstGeom>
          <a:solidFill>
            <a:schemeClr val="accent1"/>
          </a:solidFill>
          <a:ln/>
        </p:spPr>
      </p:sp>
      <p:pic>
        <p:nvPicPr>
          <p:cNvPr id="7" name="icon" descr="① 核心產品 升級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25146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154680"/>
            <a:ext cx="18882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① 核心產品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升級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069080"/>
            <a:ext cx="18882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產品組合與定價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2802636" y="2377440"/>
            <a:ext cx="2071116" cy="2331720"/>
          </a:xfrm>
          <a:prstGeom prst="roundRect">
            <a:avLst>
              <a:gd name="adj" fmla="val 3532"/>
            </a:avLst>
          </a:prstGeom>
          <a:solidFill>
            <a:schemeClr val="accent2"/>
          </a:solidFill>
          <a:ln/>
        </p:spPr>
      </p:sp>
      <p:pic>
        <p:nvPicPr>
          <p:cNvPr id="11" name="icon" descr="② 健康與 高值化創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588" y="251460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94076" y="3154680"/>
            <a:ext cx="18882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② 健康與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高值化創新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894076" y="4069080"/>
            <a:ext cx="18882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減鈉、調理醬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5056632" y="2377440"/>
            <a:ext cx="2071116" cy="2331720"/>
          </a:xfrm>
          <a:prstGeom prst="roundRect">
            <a:avLst>
              <a:gd name="adj" fmla="val 3532"/>
            </a:avLst>
          </a:prstGeom>
          <a:solidFill>
            <a:schemeClr val="accent3"/>
          </a:solidFill>
          <a:ln/>
        </p:spPr>
      </p:sp>
      <p:pic>
        <p:nvPicPr>
          <p:cNvPr id="15" name="icon" descr="③ 業務用 B2B 拓展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584" y="251460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48072" y="3154680"/>
            <a:ext cx="18882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③ 業務用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B2B 拓展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148072" y="4069080"/>
            <a:ext cx="18882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餐飲與食品廠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7310628" y="2377440"/>
            <a:ext cx="2071116" cy="2331720"/>
          </a:xfrm>
          <a:prstGeom prst="roundRect">
            <a:avLst>
              <a:gd name="adj" fmla="val 3532"/>
            </a:avLst>
          </a:prstGeom>
          <a:solidFill>
            <a:schemeClr val="accent4"/>
          </a:solidFill>
          <a:ln/>
        </p:spPr>
      </p:sp>
      <p:pic>
        <p:nvPicPr>
          <p:cNvPr id="19" name="icon" descr="④ 全通路 與 D2C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9580" y="2514600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402068" y="3154680"/>
            <a:ext cx="18882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④ 全通路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與 D2C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7402068" y="4069080"/>
            <a:ext cx="18882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電商、會員、內容</a:t>
            </a:r>
            <a:endParaRPr lang="en-US" sz="1300" dirty="0"/>
          </a:p>
        </p:txBody>
      </p:sp>
      <p:sp>
        <p:nvSpPr>
          <p:cNvPr id="22" name="card"/>
          <p:cNvSpPr/>
          <p:nvPr/>
        </p:nvSpPr>
        <p:spPr>
          <a:xfrm>
            <a:off x="9564624" y="2377440"/>
            <a:ext cx="2071116" cy="2331720"/>
          </a:xfrm>
          <a:prstGeom prst="roundRect">
            <a:avLst>
              <a:gd name="adj" fmla="val 3532"/>
            </a:avLst>
          </a:prstGeom>
          <a:solidFill>
            <a:schemeClr val="accent5"/>
          </a:solidFill>
          <a:ln/>
        </p:spPr>
      </p:sp>
      <p:pic>
        <p:nvPicPr>
          <p:cNvPr id="23" name="icon" descr="⑤ 海外市場 拓展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3576" y="2514600"/>
            <a:ext cx="548640" cy="54864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656064" y="3154680"/>
            <a:ext cx="18882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⑤ 海外市場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拓展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9656064" y="4069080"/>
            <a:ext cx="18882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華人、清真、東南亞</a:t>
            </a:r>
            <a:endParaRPr lang="en-US" sz="1300" dirty="0"/>
          </a:p>
        </p:txBody>
      </p:sp>
      <p:sp>
        <p:nvSpPr>
          <p:cNvPr id="26" name="card"/>
          <p:cNvSpPr/>
          <p:nvPr/>
        </p:nvSpPr>
        <p:spPr>
          <a:xfrm>
            <a:off x="548640" y="4892040"/>
            <a:ext cx="3514039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27" name="icon-circle"/>
          <p:cNvSpPr/>
          <p:nvPr/>
        </p:nvSpPr>
        <p:spPr>
          <a:xfrm>
            <a:off x="777240" y="507492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8" name="icon" descr="FaShieldAl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" y="5225796"/>
            <a:ext cx="384048" cy="38404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645920" y="49834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食安與供應鏈韌性</a:t>
            </a:r>
            <a:endParaRPr lang="en-US" sz="1600" dirty="0"/>
          </a:p>
        </p:txBody>
      </p:sp>
      <p:sp>
        <p:nvSpPr>
          <p:cNvPr id="30" name="card"/>
          <p:cNvSpPr/>
          <p:nvPr/>
        </p:nvSpPr>
        <p:spPr>
          <a:xfrm>
            <a:off x="4336999" y="4892040"/>
            <a:ext cx="3514039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31" name="icon-circle"/>
          <p:cNvSpPr/>
          <p:nvPr/>
        </p:nvSpPr>
        <p:spPr>
          <a:xfrm>
            <a:off x="4565599" y="507492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2" name="icon" descr="FaSolarPane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6475" y="5225796"/>
            <a:ext cx="384048" cy="384048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5434279" y="49834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ESG 與財務穩健</a:t>
            </a:r>
            <a:endParaRPr lang="en-US" sz="1600" dirty="0"/>
          </a:p>
        </p:txBody>
      </p:sp>
      <p:sp>
        <p:nvSpPr>
          <p:cNvPr id="34" name="card"/>
          <p:cNvSpPr/>
          <p:nvPr/>
        </p:nvSpPr>
        <p:spPr>
          <a:xfrm>
            <a:off x="8125358" y="4892040"/>
            <a:ext cx="3514039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35" name="icon-circle"/>
          <p:cNvSpPr/>
          <p:nvPr/>
        </p:nvSpPr>
        <p:spPr>
          <a:xfrm>
            <a:off x="8353958" y="507492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6" name="icon" descr="FaUserFriend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4834" y="5225796"/>
            <a:ext cx="384048" cy="384048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9222638" y="49834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組織、人才與接班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策略 ①｜核心產品升級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用 80/20 法則聚焦獲利產品，建立定價紀律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行動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611880" y="1463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具體做法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0" y="146304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追蹤指標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548640" y="1874520"/>
            <a:ext cx="11091672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8" name="num-circle"/>
          <p:cNvSpPr/>
          <p:nvPr/>
        </p:nvSpPr>
        <p:spPr>
          <a:xfrm>
            <a:off x="731520" y="2057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1874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產品組合盤點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18745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依 SKU 計算營收、毛利、週轉；找出貢獻約 80% 毛利的核心品項，集中資源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0" y="18745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毛利率、核心 SKU 營收佔比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548640" y="2898648"/>
            <a:ext cx="11091672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</p:spPr>
      </p:sp>
      <p:sp>
        <p:nvSpPr>
          <p:cNvPr id="14" name="num-circle"/>
          <p:cNvSpPr/>
          <p:nvPr/>
        </p:nvSpPr>
        <p:spPr>
          <a:xfrm>
            <a:off x="731520" y="30815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081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2898648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精簡長尾 SKU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2898648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低毛利、低週轉品項設定淘汰或改為接單生產，降低庫存與換線成本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289864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SKU 數、存貨週轉天數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548640" y="3922776"/>
            <a:ext cx="11091672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0" name="num-circle"/>
          <p:cNvSpPr/>
          <p:nvPr/>
        </p:nvSpPr>
        <p:spPr>
          <a:xfrm>
            <a:off x="731520" y="4105656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105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3922776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價格與成本連動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611880" y="3922776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建立原料成本指數，超過門檻即啟動調價；不同通路設定價格帶避免互相殺價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0" y="3922776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價格調整落實率</a:t>
            </a:r>
            <a:endParaRPr lang="en-US" sz="1300" dirty="0"/>
          </a:p>
        </p:txBody>
      </p:sp>
      <p:sp>
        <p:nvSpPr>
          <p:cNvPr id="25" name="card"/>
          <p:cNvSpPr/>
          <p:nvPr/>
        </p:nvSpPr>
        <p:spPr>
          <a:xfrm>
            <a:off x="548640" y="4946904"/>
            <a:ext cx="11091672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</p:spPr>
      </p:sp>
      <p:sp>
        <p:nvSpPr>
          <p:cNvPr id="26" name="num-circle"/>
          <p:cNvSpPr/>
          <p:nvPr/>
        </p:nvSpPr>
        <p:spPr>
          <a:xfrm>
            <a:off x="731520" y="512978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51297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4946904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包裝與品牌故事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3611880" y="494690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推出小包裝與家庭號雙規格；強化產地、釀造工藝等差異化訴求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0" y="4946904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新規格營收、品牌搜尋量</a:t>
            </a:r>
            <a:endParaRPr lang="en-US" sz="1300" dirty="0"/>
          </a:p>
        </p:txBody>
      </p:sp>
      <p:sp>
        <p:nvSpPr>
          <p:cNvPr id="31" name="source"/>
          <p:cNvSpPr txBox="1"/>
          <p:nvPr/>
        </p:nvSpPr>
        <p:spPr>
          <a:xfrm>
            <a:off x="548640" y="610819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資料來源：本報告建議（管理方法）；背景數據見第 5–6 頁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策略 ②｜健康與高值化創新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開發「健康 × 便利」新品，提高單價與毛利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3514039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777240" y="17373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" descr="FaHeartbe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8681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373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減鈉系列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以發酵鮮味、香辛料補償鹹味；回應 2,400 mg 減鈉趨勢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336999" y="1508760"/>
            <a:ext cx="3514039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10" name="icon-circle"/>
          <p:cNvSpPr/>
          <p:nvPr/>
        </p:nvSpPr>
        <p:spPr>
          <a:xfrm>
            <a:off x="4565599" y="173736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con" descr="FaBlend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358" y="186811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97119" y="17373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一醬成菜調理醬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65599" y="24231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三杯、滷味、宮保等台式風味，鎖定小家庭與上班族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125358" y="1508760"/>
            <a:ext cx="3514039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15" name="icon-circle"/>
          <p:cNvSpPr/>
          <p:nvPr/>
        </p:nvSpPr>
        <p:spPr>
          <a:xfrm>
            <a:off x="8353958" y="173736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con" descr="FaLea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4718" y="186811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85478" y="17373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潔淨標示系列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53958" y="24231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少添加、成分表簡短透明，符合天然趨勢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548640" y="3474720"/>
            <a:ext cx="3514039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20" name="icon-circle"/>
          <p:cNvSpPr/>
          <p:nvPr/>
        </p:nvSpPr>
        <p:spPr>
          <a:xfrm>
            <a:off x="777240" y="370332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con" descr="FaUserFriend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383407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37033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銀髮友善系列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3891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易開瓶、大字標示、鮮味加強、低鈉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4336999" y="3474720"/>
            <a:ext cx="3514039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25" name="icon-circle"/>
          <p:cNvSpPr/>
          <p:nvPr/>
        </p:nvSpPr>
        <p:spPr>
          <a:xfrm>
            <a:off x="4565599" y="370332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6" name="icon" descr="FaSeedl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6358" y="3834079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97119" y="37033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素食與清真版本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565599" y="43891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同一配方延伸素食、清真版本，擴大可銷售市場</a:t>
            </a:r>
            <a:endParaRPr lang="en-US" sz="1400" dirty="0"/>
          </a:p>
        </p:txBody>
      </p:sp>
      <p:sp>
        <p:nvSpPr>
          <p:cNvPr id="29" name="card"/>
          <p:cNvSpPr/>
          <p:nvPr/>
        </p:nvSpPr>
        <p:spPr>
          <a:xfrm>
            <a:off x="8125358" y="3474720"/>
            <a:ext cx="3514039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30" name="icon-circle"/>
          <p:cNvSpPr/>
          <p:nvPr/>
        </p:nvSpPr>
        <p:spPr>
          <a:xfrm>
            <a:off x="8353958" y="370332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1" name="icon" descr="FaLightbulb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4718" y="3834079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85478" y="37033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研發機制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353958" y="43891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每年 2–3 款新品；與大學、食品所合作並申請 SBIR 補助</a:t>
            </a:r>
            <a:endParaRPr lang="en-US" sz="1400" dirty="0"/>
          </a:p>
        </p:txBody>
      </p:sp>
      <p:sp>
        <p:nvSpPr>
          <p:cNvPr id="34" name="source"/>
          <p:cNvSpPr txBox="1"/>
          <p:nvPr/>
        </p:nvSpPr>
        <p:spPr>
          <a:xfrm>
            <a:off x="548640" y="610819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資料來源：SBIR：自由時報（先期研究 Phase 1 補助 100–150 萬元）、工商時報 2026/6/18（研發 Phase 2 上限提高至 1,200 萬元）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策略 ③｜業務用 B2B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切入餐飲與食品廠：用客製化速度贏過大廠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1979676" cy="2377440"/>
          </a:xfrm>
          <a:prstGeom prst="roundRect">
            <a:avLst>
              <a:gd name="adj" fmla="val 3695"/>
            </a:avLst>
          </a:prstGeom>
          <a:solidFill>
            <a:schemeClr val="bg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1216152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" descr="Fa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6970" y="183245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423160"/>
            <a:ext cx="1796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需求訪談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880360"/>
            <a:ext cx="17053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了解菜單、口味、成本與產能</a:t>
            </a:r>
            <a:endParaRPr lang="en-US" sz="1300" dirty="0"/>
          </a:p>
        </p:txBody>
      </p:sp>
      <p:sp>
        <p:nvSpPr>
          <p:cNvPr id="9" name="arrow"/>
          <p:cNvSpPr/>
          <p:nvPr/>
        </p:nvSpPr>
        <p:spPr>
          <a:xfrm>
            <a:off x="2583180" y="2560320"/>
            <a:ext cx="164592" cy="292608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10" name="card"/>
          <p:cNvSpPr/>
          <p:nvPr/>
        </p:nvSpPr>
        <p:spPr>
          <a:xfrm>
            <a:off x="2802636" y="1508760"/>
            <a:ext cx="1979676" cy="2377440"/>
          </a:xfrm>
          <a:prstGeom prst="roundRect">
            <a:avLst>
              <a:gd name="adj" fmla="val 3695"/>
            </a:avLst>
          </a:prstGeom>
          <a:solidFill>
            <a:schemeClr val="bg2"/>
          </a:solidFill>
          <a:ln/>
        </p:spPr>
      </p:sp>
      <p:sp>
        <p:nvSpPr>
          <p:cNvPr id="11" name="icon-circle"/>
          <p:cNvSpPr/>
          <p:nvPr/>
        </p:nvSpPr>
        <p:spPr>
          <a:xfrm>
            <a:off x="3470148" y="16916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con" descr="FaFlas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966" y="1832458"/>
            <a:ext cx="358445" cy="35844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894076" y="2423160"/>
            <a:ext cx="1796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配方試作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939796" y="2880360"/>
            <a:ext cx="17053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研發依需求打樣，2–3 輪調整</a:t>
            </a:r>
            <a:endParaRPr lang="en-US" sz="1300" dirty="0"/>
          </a:p>
        </p:txBody>
      </p:sp>
      <p:sp>
        <p:nvSpPr>
          <p:cNvPr id="15" name="arrow"/>
          <p:cNvSpPr/>
          <p:nvPr/>
        </p:nvSpPr>
        <p:spPr>
          <a:xfrm>
            <a:off x="4837176" y="2560320"/>
            <a:ext cx="164592" cy="292608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16" name="card"/>
          <p:cNvSpPr/>
          <p:nvPr/>
        </p:nvSpPr>
        <p:spPr>
          <a:xfrm>
            <a:off x="5056632" y="1508760"/>
            <a:ext cx="1979676" cy="2377440"/>
          </a:xfrm>
          <a:prstGeom prst="roundRect">
            <a:avLst>
              <a:gd name="adj" fmla="val 3695"/>
            </a:avLst>
          </a:prstGeom>
          <a:solidFill>
            <a:schemeClr val="bg2"/>
          </a:solidFill>
          <a:ln/>
        </p:spPr>
      </p:sp>
      <p:sp>
        <p:nvSpPr>
          <p:cNvPr id="17" name="icon-circle"/>
          <p:cNvSpPr/>
          <p:nvPr/>
        </p:nvSpPr>
        <p:spPr>
          <a:xfrm>
            <a:off x="5724144" y="16916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con" descr="FaUtensil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962" y="1832458"/>
            <a:ext cx="358445" cy="35844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148072" y="2423160"/>
            <a:ext cx="1796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現場試吃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193792" y="2880360"/>
            <a:ext cx="17053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與主廚實際烹調驗證</a:t>
            </a:r>
            <a:endParaRPr lang="en-US" sz="1300" dirty="0"/>
          </a:p>
        </p:txBody>
      </p:sp>
      <p:sp>
        <p:nvSpPr>
          <p:cNvPr id="21" name="arrow"/>
          <p:cNvSpPr/>
          <p:nvPr/>
        </p:nvSpPr>
        <p:spPr>
          <a:xfrm>
            <a:off x="7091172" y="2560320"/>
            <a:ext cx="164592" cy="292608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22" name="card"/>
          <p:cNvSpPr/>
          <p:nvPr/>
        </p:nvSpPr>
        <p:spPr>
          <a:xfrm>
            <a:off x="7310628" y="1508760"/>
            <a:ext cx="1979676" cy="2377440"/>
          </a:xfrm>
          <a:prstGeom prst="roundRect">
            <a:avLst>
              <a:gd name="adj" fmla="val 3695"/>
            </a:avLst>
          </a:prstGeom>
          <a:solidFill>
            <a:schemeClr val="bg2"/>
          </a:solidFill>
          <a:ln/>
        </p:spPr>
      </p:sp>
      <p:sp>
        <p:nvSpPr>
          <p:cNvPr id="23" name="icon-circle"/>
          <p:cNvSpPr/>
          <p:nvPr/>
        </p:nvSpPr>
        <p:spPr>
          <a:xfrm>
            <a:off x="7978140" y="169164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4" name="icon" descr="FaClipboar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8958" y="1832458"/>
            <a:ext cx="358445" cy="35844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02068" y="2423160"/>
            <a:ext cx="1796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量產驗證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7447788" y="2880360"/>
            <a:ext cx="17053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小批試產、品質規格書</a:t>
            </a:r>
            <a:endParaRPr lang="en-US" sz="1300" dirty="0"/>
          </a:p>
        </p:txBody>
      </p:sp>
      <p:sp>
        <p:nvSpPr>
          <p:cNvPr id="27" name="arrow"/>
          <p:cNvSpPr/>
          <p:nvPr/>
        </p:nvSpPr>
        <p:spPr>
          <a:xfrm>
            <a:off x="9345168" y="2560320"/>
            <a:ext cx="164592" cy="292608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28" name="card"/>
          <p:cNvSpPr/>
          <p:nvPr/>
        </p:nvSpPr>
        <p:spPr>
          <a:xfrm>
            <a:off x="9564624" y="1508760"/>
            <a:ext cx="1979676" cy="2377440"/>
          </a:xfrm>
          <a:prstGeom prst="roundRect">
            <a:avLst>
              <a:gd name="adj" fmla="val 3695"/>
            </a:avLst>
          </a:prstGeom>
          <a:solidFill>
            <a:schemeClr val="bg2"/>
          </a:solidFill>
          <a:ln/>
        </p:spPr>
      </p:sp>
      <p:sp>
        <p:nvSpPr>
          <p:cNvPr id="29" name="icon-circle"/>
          <p:cNvSpPr/>
          <p:nvPr/>
        </p:nvSpPr>
        <p:spPr>
          <a:xfrm>
            <a:off x="10232136" y="169164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0" name="icon" descr="FaTru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2954" y="1832458"/>
            <a:ext cx="358445" cy="35844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656064" y="2423160"/>
            <a:ext cx="1796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穩定供貨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9701784" y="2880360"/>
            <a:ext cx="17053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長約、定期回訪、口味維護</a:t>
            </a:r>
            <a:endParaRPr lang="en-US" sz="1300" dirty="0"/>
          </a:p>
        </p:txBody>
      </p:sp>
      <p:sp>
        <p:nvSpPr>
          <p:cNvPr id="33" name="card"/>
          <p:cNvSpPr/>
          <p:nvPr/>
        </p:nvSpPr>
        <p:spPr>
          <a:xfrm>
            <a:off x="548640" y="4114800"/>
            <a:ext cx="5408676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777240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為什麼值得做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777240" y="461772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訂單量穩定，平滑零售季節波動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免通路上架費，毛利結構可控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客製配方形成轉換成本，客戶黏著度高</a:t>
            </a:r>
            <a:endParaRPr lang="en-US" sz="1400" dirty="0"/>
          </a:p>
        </p:txBody>
      </p:sp>
      <p:sp>
        <p:nvSpPr>
          <p:cNvPr id="36" name="card"/>
          <p:cNvSpPr/>
          <p:nvPr/>
        </p:nvSpPr>
        <p:spPr>
          <a:xfrm>
            <a:off x="6231636" y="4114800"/>
            <a:ext cx="5408676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6460236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要注意的風險</a:t>
            </a:r>
            <a:endParaRPr lang="en-US" sz="1400" dirty="0"/>
          </a:p>
        </p:txBody>
      </p:sp>
      <p:sp>
        <p:nvSpPr>
          <p:cNvPr id="38" name="Text 31"/>
          <p:cNvSpPr txBox="1"/>
          <p:nvPr/>
        </p:nvSpPr>
        <p:spPr>
          <a:xfrm>
            <a:off x="6460236" y="461772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客戶集中：建議單一客戶不超過營收約 20%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應收帳款：設定信用額度與付款條件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配方保密：簽訂保密與配方歸屬條款</a:t>
            </a:r>
            <a:endParaRPr lang="en-US" sz="1400" dirty="0"/>
          </a:p>
        </p:txBody>
      </p:sp>
      <p:sp>
        <p:nvSpPr>
          <p:cNvPr id="39" name="source"/>
          <p:cNvSpPr txBox="1"/>
          <p:nvPr/>
        </p:nvSpPr>
        <p:spPr>
          <a:xfrm>
            <a:off x="548640" y="610819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資料來源：本報告建議；市場背景見第 10 頁（外食比例、餐飲業營業額）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策略 ④｜全通路與 D2C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每個通路扮演不同角色，避免互相殺價</a:t>
            </a:r>
            <a:endParaRPr lang="en-US" sz="3000" dirty="0"/>
          </a:p>
        </p:txBody>
      </p:sp>
      <p:graphicFrame>
        <p:nvGraphicFramePr>
          <p:cNvPr id="22" name="channel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749808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874520"/>
                <a:gridCol w="1874520"/>
                <a:gridCol w="196596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通路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5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角色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5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挑戰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5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MMH 作法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51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A2511"/>
                          </a:solidFill>
                        </a:rPr>
                        <a:t>量販／超市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主力 SKU 曝光與銷量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上架費、促銷檔期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維持核心，精算促銷投報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A2511"/>
                          </a:solidFill>
                        </a:rPr>
                        <a:t>傳統雜貨／餐飲批發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業務用與在地客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通路老化、帳期長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結合業務用大包裝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A2511"/>
                          </a:solidFill>
                        </a:rPr>
                        <a:t>電商平台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新品測試、組合包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價格透明、平台抽成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專屬組合與禮盒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A2511"/>
                          </a:solidFill>
                        </a:rPr>
                        <a:t>品牌官網 D2C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會員資料、回購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初期流量不足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食譜內容導流、訂閱制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A2511"/>
                          </a:solidFill>
                        </a:rPr>
                        <a:t>團購／社群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快速爆量、口碑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依賴團購主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固定合作、限量口味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8321040" y="1508760"/>
            <a:ext cx="3319272" cy="4434840"/>
          </a:xfrm>
          <a:prstGeom prst="roundRect">
            <a:avLst>
              <a:gd name="adj" fmla="val 2204"/>
            </a:avLst>
          </a:prstGeom>
          <a:solidFill>
            <a:schemeClr val="tx2"/>
          </a:solidFill>
          <a:ln/>
        </p:spPr>
      </p:sp>
      <p:sp>
        <p:nvSpPr>
          <p:cNvPr id="6" name="icon-circle"/>
          <p:cNvSpPr/>
          <p:nvPr/>
        </p:nvSpPr>
        <p:spPr>
          <a:xfrm>
            <a:off x="8549640" y="17373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FaMobile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0399" y="1868119"/>
            <a:ext cx="332842" cy="33284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35440" y="1737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內容行銷是關鍵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549640" y="251460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每支產品配 3 道以上食譜短影音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包裝放 QR Code 連到食譜與會員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會員數、回購率、客單價每月追蹤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電商佔零售 13.9%，比重仍在上升</a:t>
            </a:r>
            <a:endParaRPr lang="en-US" sz="1400" dirty="0"/>
          </a:p>
        </p:txBody>
      </p:sp>
      <p:sp>
        <p:nvSpPr>
          <p:cNvPr id="10" name="source"/>
          <p:cNvSpPr txBox="1"/>
          <p:nvPr/>
        </p:nvSpPr>
        <p:spPr>
          <a:xfrm>
            <a:off x="548640" y="610819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資料來源：電商比重：工商時報 2026/1/27、數位時代（引用經濟部統計處）；其餘為本報告建議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策略 ⑤｜海外市場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分三階段拓展海外，先易後難、控制風險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3337560"/>
            <a:ext cx="3514039" cy="2606040"/>
          </a:xfrm>
          <a:prstGeom prst="roundRect">
            <a:avLst>
              <a:gd name="adj" fmla="val 2807"/>
            </a:avLst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3520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第一階段（第 1 年）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8862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跨境電商 + 海外華人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6634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透過跨境電商與海外亞洲超市，測試台灣風味接受度；美國是台灣農產品最大出口市場（2025 年 8.3 億美元）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336999" y="2468880"/>
            <a:ext cx="3514039" cy="3474720"/>
          </a:xfrm>
          <a:prstGeom prst="roundRect">
            <a:avLst>
              <a:gd name="adj" fmla="val 2105"/>
            </a:avLst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65599" y="26517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第二階段（第 2 年）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65599" y="30175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經銷商 + 國際展會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65599" y="37947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參加台北國際食品展等展會尋找經銷商；完成目標市場登錄、標示與檢驗規範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8125358" y="1600200"/>
            <a:ext cx="3514039" cy="4343400"/>
          </a:xfrm>
          <a:prstGeom prst="roundRect">
            <a:avLst>
              <a:gd name="adj" fmla="val 2082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53958" y="1783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第三階段（第 3 年）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353958" y="21488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清真／素食認證 → 東南亞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53958" y="29260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取得清真認證進入印尼、馬來西亞等穆斯林市場；評估委託當地代工</a:t>
            </a:r>
            <a:endParaRPr lang="en-US" sz="1400" dirty="0"/>
          </a:p>
        </p:txBody>
      </p:sp>
      <p:sp>
        <p:nvSpPr>
          <p:cNvPr id="16" name="icon-circle"/>
          <p:cNvSpPr/>
          <p:nvPr/>
        </p:nvSpPr>
        <p:spPr>
          <a:xfrm>
            <a:off x="548640" y="155448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7" name="icon" descr="FaPla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8" y="1695298"/>
            <a:ext cx="358445" cy="35844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371600" y="15544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原則：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每階段設定停損點（例如 12 個月未達營收目標即調整），海外投資以不影響本業現金流為上限。</a:t>
            </a:r>
            <a:endParaRPr lang="en-US" sz="1400" dirty="0"/>
          </a:p>
        </p:txBody>
      </p:sp>
      <p:sp>
        <p:nvSpPr>
          <p:cNvPr id="19" name="source"/>
          <p:cNvSpPr txBox="1"/>
          <p:nvPr/>
        </p:nvSpPr>
        <p:spPr>
          <a:xfrm>
            <a:off x="548640" y="610819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資料來源：聯合報（農業部 2025 年農產品出口統計）；USDA FAS〈Taiwan: 2024 Agricultural Exports Summary〉；清真市場見第 12 頁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基礎 ①｜食安與供應鏈韌性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把食安當成核心競爭力，而不只是成本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540867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777240" y="1828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" descr="FaClipboard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9796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64592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供應商分級稽核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依風險分級，高風險供應商每年實地稽核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6231636" y="1508760"/>
            <a:ext cx="540867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460236" y="1828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" descr="FaFlas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197967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74636" y="164592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高風險原料逐批檢驗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辣椒粉、香辛料等自主送驗，不只依賴供應商檢驗報告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548640" y="2990088"/>
            <a:ext cx="540867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3" name="icon-circle"/>
          <p:cNvSpPr/>
          <p:nvPr/>
        </p:nvSpPr>
        <p:spPr>
          <a:xfrm>
            <a:off x="777240" y="3310128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4" name="icon" descr="FaTru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3461004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91640" y="3127248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雙源採購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關鍵原料至少兩家合格供應商、兩個產地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6231636" y="2990088"/>
            <a:ext cx="540867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7" name="icon-circle"/>
          <p:cNvSpPr/>
          <p:nvPr/>
        </p:nvSpPr>
        <p:spPr>
          <a:xfrm>
            <a:off x="6460236" y="3310128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8" name="icon" descr="FaCog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3461004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74636" y="3127248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數位化追溯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原料批號 → 成品批號 → 出貨客戶，可一鍵追查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548640" y="4471416"/>
            <a:ext cx="540867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21" name="icon-circle"/>
          <p:cNvSpPr/>
          <p:nvPr/>
        </p:nvSpPr>
        <p:spPr>
          <a:xfrm>
            <a:off x="777240" y="4791456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2" name="icon" descr="FaExclamationTriang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942332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91640" y="4608576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危機應變 SOP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下架、通報、媒體回應流程，每年演練一次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6231636" y="4471416"/>
            <a:ext cx="540867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25" name="icon-circle"/>
          <p:cNvSpPr/>
          <p:nvPr/>
        </p:nvSpPr>
        <p:spPr>
          <a:xfrm>
            <a:off x="6460236" y="4791456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6" name="icon" descr="FaShieldAl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1112" y="4942332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374636" y="4608576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產品責任保險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檢視保額是否足以支應大規模回收</a:t>
            </a:r>
            <a:endParaRPr lang="en-US" sz="1400" dirty="0"/>
          </a:p>
        </p:txBody>
      </p:sp>
      <p:sp>
        <p:nvSpPr>
          <p:cNvPr id="28" name="source"/>
          <p:cNvSpPr txBox="1"/>
          <p:nvPr/>
        </p:nvSpPr>
        <p:spPr>
          <a:xfrm>
            <a:off x="548640" y="610819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資料來源：蘇丹紅事件教訓見第 13 頁（食力、新頭殼）；追溯追蹤法規見衛生福利部公告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基礎 ②｜ESG 與財務穩健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節能減碳與財務紀律，兩者都在保護獲利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5408676" cy="4434840"/>
          </a:xfrm>
          <a:prstGeom prst="roundRect">
            <a:avLst>
              <a:gd name="adj" fmla="val 1649"/>
            </a:avLst>
          </a:prstGeom>
          <a:solidFill>
            <a:schemeClr val="bg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con" descr="FaSolarPan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183245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691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ESG 行動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14600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完成溫室氣體盤查（參考 ISO 14064-1），回應客戶要求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蒸煮、殺菌鍋爐與冷藏設備節能改善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評估屋頂太陽能（萬家香屏東廠為案例）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包材減量與可回收設計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申請經濟部中小微企業轉型資源（碳盤查諮詢、節能設備補助）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231636" y="1508760"/>
            <a:ext cx="5408676" cy="4434840"/>
          </a:xfrm>
          <a:prstGeom prst="roundRect">
            <a:avLst>
              <a:gd name="adj" fmla="val 1649"/>
            </a:avLst>
          </a:prstGeom>
          <a:solidFill>
            <a:schemeClr val="bg2"/>
          </a:solidFill>
          <a:ln/>
        </p:spPr>
      </p:sp>
      <p:sp>
        <p:nvSpPr>
          <p:cNvPr id="10" name="icon-circle"/>
          <p:cNvSpPr/>
          <p:nvPr/>
        </p:nvSpPr>
        <p:spPr>
          <a:xfrm>
            <a:off x="6460236" y="169164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icon" descr="FaBalanceSc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054" y="183245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3196" y="1691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財務穩健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460236" y="2514600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建立 13 週滾動現金流預測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存貨週轉與應收帳款天數每月檢視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主要原料與外幣採購評估避險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投資案以回收期與淨現值（NPV, Net Present Value）評估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善用 SBIR 研發補助，降低新品開發風險</a:t>
            </a:r>
            <a:endParaRPr lang="en-US" sz="1400" dirty="0"/>
          </a:p>
        </p:txBody>
      </p:sp>
      <p:sp>
        <p:nvSpPr>
          <p:cNvPr id="14" name="source"/>
          <p:cNvSpPr txBox="1"/>
          <p:nvPr/>
        </p:nvSpPr>
        <p:spPr>
          <a:xfrm>
            <a:off x="548640" y="610819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資料來源：經濟部中小微企業多元振興發展計畫、SBIR（自由時報、工商時報 2026/6/18）；萬家香案例（科技新報、遠見雜誌）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基礎 ③｜組織、人才與接班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接班需要 5–10 年準備，現在就該開始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420624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42.1%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164592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家族企業掌門人年齡落在 60–69 歲（遠見 2019，171 家）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548640" y="3017520"/>
            <a:ext cx="420624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315468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78.4%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3154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受訪家族企業認為交棒有急迫性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548640" y="4526280"/>
            <a:ext cx="420624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466344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6%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46634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台灣企業由 35 歲以下年輕人掌舵的比例（全球 11%）</a:t>
            </a:r>
            <a:endParaRPr lang="en-US" sz="1300" dirty="0"/>
          </a:p>
        </p:txBody>
      </p:sp>
      <p:sp>
        <p:nvSpPr>
          <p:cNvPr id="13" name="icon-circle"/>
          <p:cNvSpPr/>
          <p:nvPr/>
        </p:nvSpPr>
        <p:spPr>
          <a:xfrm>
            <a:off x="5120640" y="161848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" descr="FaUserT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1341" y="1739189"/>
            <a:ext cx="307238" cy="30723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852160" y="1508760"/>
            <a:ext cx="5788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接班計畫｜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訂定 5–10 年交棒時程；接班人輪調生產、業務、財務</a:t>
            </a:r>
            <a:endParaRPr lang="en-US" sz="1400" dirty="0"/>
          </a:p>
        </p:txBody>
      </p:sp>
      <p:sp>
        <p:nvSpPr>
          <p:cNvPr id="16" name="icon-circle"/>
          <p:cNvSpPr/>
          <p:nvPr/>
        </p:nvSpPr>
        <p:spPr>
          <a:xfrm>
            <a:off x="5120640" y="25146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con" descr="FaBalanceSc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1341" y="2635301"/>
            <a:ext cx="307238" cy="30723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852160" y="2404872"/>
            <a:ext cx="5788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治理制度｜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家族憲章、股權規劃；引進外部顧問或獨立董事</a:t>
            </a:r>
            <a:endParaRPr lang="en-US" sz="1400" dirty="0"/>
          </a:p>
        </p:txBody>
      </p:sp>
      <p:sp>
        <p:nvSpPr>
          <p:cNvPr id="19" name="icon-circle"/>
          <p:cNvSpPr/>
          <p:nvPr/>
        </p:nvSpPr>
        <p:spPr>
          <a:xfrm>
            <a:off x="5120640" y="3410712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con" descr="FaFlas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341" y="3531413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852160" y="3300984"/>
            <a:ext cx="5788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知識傳承｜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配方與釀造工藝文件化，降低對單一老師傅依賴</a:t>
            </a:r>
            <a:endParaRPr lang="en-US" sz="1400" dirty="0"/>
          </a:p>
        </p:txBody>
      </p:sp>
      <p:sp>
        <p:nvSpPr>
          <p:cNvPr id="22" name="icon-circle"/>
          <p:cNvSpPr/>
          <p:nvPr/>
        </p:nvSpPr>
        <p:spPr>
          <a:xfrm>
            <a:off x="5120640" y="4306824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3" name="icon" descr="FaCog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1341" y="4427525"/>
            <a:ext cx="307238" cy="30723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852160" y="4197096"/>
            <a:ext cx="5788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自動化與缺工｜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包裝、搬運自動化；改善工作環境以留才</a:t>
            </a:r>
            <a:endParaRPr lang="en-US" sz="1400" dirty="0"/>
          </a:p>
        </p:txBody>
      </p:sp>
      <p:sp>
        <p:nvSpPr>
          <p:cNvPr id="25" name="icon-circle"/>
          <p:cNvSpPr/>
          <p:nvPr/>
        </p:nvSpPr>
        <p:spPr>
          <a:xfrm>
            <a:off x="5120640" y="5202936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6" name="icon" descr="FaUser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1341" y="5323637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852160" y="5093208"/>
            <a:ext cx="5788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激勵機制｜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績效獎金與利潤分享，連結 KPI 達成</a:t>
            </a:r>
            <a:endParaRPr lang="en-US" sz="1400" dirty="0"/>
          </a:p>
        </p:txBody>
      </p:sp>
      <p:sp>
        <p:nvSpPr>
          <p:cNvPr id="28" name="source"/>
          <p:cNvSpPr txBox="1"/>
          <p:nvPr/>
        </p:nvSpPr>
        <p:spPr>
          <a:xfrm>
            <a:off x="548640" y="610819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資料來源：遠見雜誌〈逾五成掌門人超過 60 歲 78.4% 企業有交棒規畫危機〉；ETtoday、關鍵評論網（2024 接班報導）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05 執行｜路線圖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三年路線圖：打底 → 擴張 → 放大</a:t>
            </a:r>
            <a:endParaRPr lang="en-US" sz="3000" dirty="0"/>
          </a:p>
        </p:txBody>
      </p:sp>
      <p:sp>
        <p:nvSpPr>
          <p:cNvPr id="4" name="phase-chevron"/>
          <p:cNvSpPr/>
          <p:nvPr/>
        </p:nvSpPr>
        <p:spPr>
          <a:xfrm>
            <a:off x="548640" y="1508760"/>
            <a:ext cx="3514039" cy="685800"/>
          </a:xfrm>
          <a:prstGeom prst="chevron">
            <a:avLst/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5087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2027｜打底年</a:t>
            </a:r>
            <a:endParaRPr lang="en-US" sz="1700" dirty="0"/>
          </a:p>
        </p:txBody>
      </p:sp>
      <p:sp>
        <p:nvSpPr>
          <p:cNvPr id="6" name="card"/>
          <p:cNvSpPr/>
          <p:nvPr/>
        </p:nvSpPr>
        <p:spPr>
          <a:xfrm>
            <a:off x="548640" y="2377440"/>
            <a:ext cx="3514039" cy="356616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606040"/>
            <a:ext cx="31089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食安升級：供應商稽核、逐批檢驗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產品組合盤點、SKU 精簡、定價機制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完成碳盤查、啟動節能改善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電商與官網改版、食譜內容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接班時程與治理制度定案</a:t>
            </a:r>
            <a:endParaRPr lang="en-US" sz="1500" dirty="0"/>
          </a:p>
        </p:txBody>
      </p:sp>
      <p:sp>
        <p:nvSpPr>
          <p:cNvPr id="8" name="phase-chevron"/>
          <p:cNvSpPr/>
          <p:nvPr/>
        </p:nvSpPr>
        <p:spPr>
          <a:xfrm>
            <a:off x="4336999" y="1508760"/>
            <a:ext cx="3514039" cy="68580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57039" y="15087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2028｜擴張年</a:t>
            </a:r>
            <a:endParaRPr lang="en-US" sz="1700" dirty="0"/>
          </a:p>
        </p:txBody>
      </p:sp>
      <p:sp>
        <p:nvSpPr>
          <p:cNvPr id="10" name="card"/>
          <p:cNvSpPr/>
          <p:nvPr/>
        </p:nvSpPr>
        <p:spPr>
          <a:xfrm>
            <a:off x="4336999" y="2377440"/>
            <a:ext cx="3514039" cy="356616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65599" y="2606040"/>
            <a:ext cx="31089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推出減鈉與調理醬系列新品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開發 3–5 家連鎖餐飲業務用客戶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跨境電商與海外華人通路測試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申請 SBIR 研發補助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包裝線自動化第一期</a:t>
            </a:r>
            <a:endParaRPr lang="en-US" sz="1500" dirty="0"/>
          </a:p>
        </p:txBody>
      </p:sp>
      <p:sp>
        <p:nvSpPr>
          <p:cNvPr id="12" name="phase-chevron"/>
          <p:cNvSpPr/>
          <p:nvPr/>
        </p:nvSpPr>
        <p:spPr>
          <a:xfrm>
            <a:off x="8125358" y="1508760"/>
            <a:ext cx="3514039" cy="685800"/>
          </a:xfrm>
          <a:prstGeom prst="chevron">
            <a:avLst/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45398" y="15087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2029｜放大年</a:t>
            </a:r>
            <a:endParaRPr lang="en-US" sz="1700" dirty="0"/>
          </a:p>
        </p:txBody>
      </p:sp>
      <p:sp>
        <p:nvSpPr>
          <p:cNvPr id="14" name="card"/>
          <p:cNvSpPr/>
          <p:nvPr/>
        </p:nvSpPr>
        <p:spPr>
          <a:xfrm>
            <a:off x="8125358" y="2377440"/>
            <a:ext cx="3514039" cy="356616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53958" y="2606040"/>
            <a:ext cx="31089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海外經銷商簽約、國際展會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清真／素食認證、評估東南亞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業務用營收佔比提升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產能與自動化第二期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發布公司第一份永續資訊</a:t>
            </a:r>
            <a:endParaRPr lang="en-US" sz="1500" dirty="0"/>
          </a:p>
        </p:txBody>
      </p:sp>
      <p:sp>
        <p:nvSpPr>
          <p:cNvPr id="16" name="source"/>
          <p:cNvSpPr txBox="1"/>
          <p:nvPr/>
        </p:nvSpPr>
        <p:spPr>
          <a:xfrm>
            <a:off x="548640" y="610819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資料來源：本報告建議；時程可依 MMH 資源與優先順序調整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05 執行｜KPI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KPI 儀表板：用數字管理成長與永續</a:t>
            </a:r>
            <a:endParaRPr lang="en-US" sz="3000" dirty="0"/>
          </a:p>
        </p:txBody>
      </p:sp>
      <p:graphicFrame>
        <p:nvGraphicFramePr>
          <p:cNvPr id="28" name="kpi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657600"/>
                <a:gridCol w="4690872"/>
                <a:gridCol w="14630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面向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5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指標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5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建議目標（示例，需依基準值校正）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5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檢視頻率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51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B5361F"/>
                          </a:solidFill>
                        </a:rPr>
                        <a:t>成長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營收年成長率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高於台灣調味品市場成長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每月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B5361F"/>
                          </a:solidFill>
                        </a:rPr>
                        <a:t>獲利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毛利率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每年提升 1–2 個百分點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每月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B5361F"/>
                          </a:solidFill>
                        </a:rPr>
                        <a:t>創新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近 3 年新品營收佔比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≥ 15%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每季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B5361F"/>
                          </a:solidFill>
                        </a:rPr>
                        <a:t>B2B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業務用營收佔比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逐年提升；單一客戶 ≤ 20%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每季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B5361F"/>
                          </a:solidFill>
                        </a:rPr>
                        <a:t>通路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電商與 D2C 營收佔比、回購率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逐年提升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每月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B5361F"/>
                          </a:solidFill>
                        </a:rPr>
                        <a:t>海外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海外營收佔比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第 3 年 ≥ 5–10%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每季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B5361F"/>
                          </a:solidFill>
                        </a:rPr>
                        <a:t>食安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重大食安事件／客訴率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0 件／逐年下降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每月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B5361F"/>
                          </a:solidFill>
                        </a:rPr>
                        <a:t>ESG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單位產量碳排、用電量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逐年下降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1A12"/>
                          </a:solidFill>
                        </a:rPr>
                        <a:t>每年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"/>
          <p:cNvSpPr txBox="1"/>
          <p:nvPr/>
        </p:nvSpPr>
        <p:spPr>
          <a:xfrm>
            <a:off x="548640" y="610819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資料來源：本報告建議；目標值為示例，請以 MMH 2026 年實際數據作為基準後設定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05 執行｜立即行動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未來 90 天行動清單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3514039" cy="443484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/>
        </p:spPr>
      </p:sp>
      <p:sp>
        <p:nvSpPr>
          <p:cNvPr id="5" name="phase-pill"/>
          <p:cNvSpPr/>
          <p:nvPr/>
        </p:nvSpPr>
        <p:spPr>
          <a:xfrm>
            <a:off x="777240" y="1737360"/>
            <a:ext cx="3056839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30568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第 1–30 天</a:t>
            </a:r>
            <a:endParaRPr lang="en-US" sz="1800" dirty="0"/>
          </a:p>
        </p:txBody>
      </p:sp>
      <p:pic>
        <p:nvPicPr>
          <p:cNvPr id="7" name="icon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517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26060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整理近 3 年營收、毛利、SKU、客戶資料</a:t>
            </a:r>
            <a:endParaRPr lang="en-US" sz="1500" dirty="0"/>
          </a:p>
        </p:txBody>
      </p:sp>
      <p:pic>
        <p:nvPicPr>
          <p:cNvPr id="9" name="icon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73075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368503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校正 SWOT，選定優先策略</a:t>
            </a:r>
            <a:endParaRPr lang="en-US" sz="1500" dirty="0"/>
          </a:p>
        </p:txBody>
      </p:sp>
      <p:pic>
        <p:nvPicPr>
          <p:cNvPr id="11" name="icon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809744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4764024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高風險原料清單與供應商盤點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4336999" y="1508760"/>
            <a:ext cx="3514039" cy="443484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/>
        </p:spPr>
      </p:sp>
      <p:sp>
        <p:nvSpPr>
          <p:cNvPr id="14" name="phase-pill"/>
          <p:cNvSpPr/>
          <p:nvPr/>
        </p:nvSpPr>
        <p:spPr>
          <a:xfrm>
            <a:off x="4565599" y="1737360"/>
            <a:ext cx="3056839" cy="594360"/>
          </a:xfrm>
          <a:prstGeom prst="roundRect">
            <a:avLst>
              <a:gd name="adj" fmla="val 12308"/>
            </a:avLst>
          </a:prstGeom>
          <a:solidFill>
            <a:schemeClr val="accent2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4565599" y="1737360"/>
            <a:ext cx="30568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第 31–60 天</a:t>
            </a:r>
            <a:endParaRPr lang="en-US" sz="1800" dirty="0"/>
          </a:p>
        </p:txBody>
      </p:sp>
      <p:pic>
        <p:nvPicPr>
          <p:cNvPr id="16" name="icon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1319" y="265176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114239" y="26060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完成 SKU 80/20 分析與定價檢討</a:t>
            </a:r>
            <a:endParaRPr lang="en-US" sz="1500" dirty="0"/>
          </a:p>
        </p:txBody>
      </p:sp>
      <p:pic>
        <p:nvPicPr>
          <p:cNvPr id="18" name="icon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1319" y="3730752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114239" y="368503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洽詢碳盤查輔導與政府補助資源</a:t>
            </a:r>
            <a:endParaRPr lang="en-US" sz="1500" dirty="0"/>
          </a:p>
        </p:txBody>
      </p:sp>
      <p:pic>
        <p:nvPicPr>
          <p:cNvPr id="20" name="icon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1319" y="4809744"/>
            <a:ext cx="365760" cy="36576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5114239" y="4764024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訪談 5 家潛在業務用客戶</a:t>
            </a:r>
            <a:endParaRPr lang="en-US" sz="1500" dirty="0"/>
          </a:p>
        </p:txBody>
      </p:sp>
      <p:sp>
        <p:nvSpPr>
          <p:cNvPr id="22" name="card"/>
          <p:cNvSpPr/>
          <p:nvPr/>
        </p:nvSpPr>
        <p:spPr>
          <a:xfrm>
            <a:off x="8125358" y="1508760"/>
            <a:ext cx="3514039" cy="443484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/>
        </p:spPr>
      </p:sp>
      <p:sp>
        <p:nvSpPr>
          <p:cNvPr id="23" name="phase-pill"/>
          <p:cNvSpPr/>
          <p:nvPr/>
        </p:nvSpPr>
        <p:spPr>
          <a:xfrm>
            <a:off x="8353958" y="1737360"/>
            <a:ext cx="3056839" cy="594360"/>
          </a:xfrm>
          <a:prstGeom prst="roundRect">
            <a:avLst>
              <a:gd name="adj" fmla="val 12308"/>
            </a:avLst>
          </a:prstGeom>
          <a:solidFill>
            <a:schemeClr val="accent3"/>
          </a:solidFill>
          <a:ln/>
        </p:spPr>
      </p:sp>
      <p:sp>
        <p:nvSpPr>
          <p:cNvPr id="24" name="Text 16"/>
          <p:cNvSpPr txBox="1"/>
          <p:nvPr/>
        </p:nvSpPr>
        <p:spPr>
          <a:xfrm>
            <a:off x="8353958" y="1737360"/>
            <a:ext cx="30568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第 61–90 天</a:t>
            </a:r>
            <a:endParaRPr lang="en-US" sz="1800" dirty="0"/>
          </a:p>
        </p:txBody>
      </p:sp>
      <p:pic>
        <p:nvPicPr>
          <p:cNvPr id="25" name="icon" descr="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9678" y="2651760"/>
            <a:ext cx="365760" cy="36576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8902598" y="26060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確定 2027 年預算與 KPI 目標值</a:t>
            </a:r>
            <a:endParaRPr lang="en-US" sz="1500" dirty="0"/>
          </a:p>
        </p:txBody>
      </p:sp>
      <p:pic>
        <p:nvPicPr>
          <p:cNvPr id="27" name="icon" descr="che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9678" y="3730752"/>
            <a:ext cx="365760" cy="36576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902598" y="368503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啟動 1–2 款新品打樣</a:t>
            </a:r>
            <a:endParaRPr lang="en-US" sz="1500" dirty="0"/>
          </a:p>
        </p:txBody>
      </p:sp>
      <p:pic>
        <p:nvPicPr>
          <p:cNvPr id="29" name="icon" descr="check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9678" y="4809744"/>
            <a:ext cx="365760" cy="365760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8902598" y="4764024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擬定接班時程與組織分工</a:t>
            </a:r>
            <a:endParaRPr lang="en-US" sz="1500" dirty="0"/>
          </a:p>
        </p:txBody>
      </p:sp>
      <p:sp>
        <p:nvSpPr>
          <p:cNvPr id="31" name="source"/>
          <p:cNvSpPr txBox="1"/>
          <p:nvPr/>
        </p:nvSpPr>
        <p:spPr>
          <a:xfrm>
            <a:off x="548640" y="610819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資料來源：本報告建議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穩定成長，來自紮實的基本功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守住核心產品 × 開創健康、業務用、電商與海外新引擎 × 以食安、ESG、接班打底</a:t>
            </a:r>
            <a:endParaRPr lang="en-US" sz="2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下一步：提供 MMH 內部數據，校正 SWOT、KPI 目標與投資優先順序</a:t>
            </a:r>
            <a:endParaRPr lang="en-US" sz="2000" dirty="0"/>
          </a:p>
        </p:txBody>
      </p:sp>
      <p:sp>
        <p:nvSpPr>
          <p:cNvPr id="4" name="icon-circle"/>
          <p:cNvSpPr/>
          <p:nvPr/>
        </p:nvSpPr>
        <p:spPr>
          <a:xfrm>
            <a:off x="731520" y="73152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con" descr="FaSeedl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571" y="912571"/>
            <a:ext cx="460858" cy="46085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附錄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參考資料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3514039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調味品產值 2011：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工商時報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調味品產值 2021：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食力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調味品發展趨勢：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經濟部工業局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醬油市佔：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鉅亨網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、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中國時報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萬家香市場地位：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股感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萬家香新廠：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科技新報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、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遠見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食品產值破兆：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中時新聞網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、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台灣英文新聞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龜甲萬財報：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Kikkoman IR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、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Quartr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全球市場：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GMI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、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GlobeNewswire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、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MarketResearch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、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Report Prime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鈉攝取建議：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衛福部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336999" y="1508760"/>
            <a:ext cx="3514039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鈉攝取調查：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衛福部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薄鹽醬油：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1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關鍵評論網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、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2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台灣龜甲萬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超高齡社會：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2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聯合報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、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2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世界日報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家戶人口：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2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遠見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、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2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經濟日報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外食比例：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2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食力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、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2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遠見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餐飲業營業額：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2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NOWnews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、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2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玩股網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電商比重：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2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工商時報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、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3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數位時代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素食人口：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3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關鍵評論網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、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3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食力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清真市場：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3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Salaam Gateway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、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3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Zawya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蘇丹紅事件：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3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食力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、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3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新頭殼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125358" y="1508760"/>
            <a:ext cx="3514039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追溯追蹤法規：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3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衛福部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基本工資：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3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公視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、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3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中時新聞網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黃豆進口：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4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食力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、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4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聯合報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碳費：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4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Reccessary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、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4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數位時代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永續報告書：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4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ETtoday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、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4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Reccessary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SBIR 補助：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4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自由時報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、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4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工商時報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家族接班：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4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遠見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、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4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ETtoday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農產品出口：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5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聯合報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、</a:t>
            </a:r>
            <a:pPr indent="0" marL="0">
              <a:spcAft>
                <a:spcPts val="7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5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USDA FAS</a:t>
            </a:r>
            <a:endParaRPr lang="en-US" sz="120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610819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資料來源：點選來源名稱可開啟原始網頁；檢索日期 2026/10/31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MH Soy and Chili">
  <a:themeElements>
    <a:clrScheme name="MMH Soy and Chili">
      <a:dk1>
        <a:srgbClr val="2B1A12"/>
      </a:dk1>
      <a:lt1>
        <a:srgbClr val="FFFFFF"/>
      </a:lt1>
      <a:dk2>
        <a:srgbClr val="4A2511"/>
      </a:dk2>
      <a:lt2>
        <a:srgbClr val="F4EFEA"/>
      </a:lt2>
      <a:accent1>
        <a:srgbClr val="B5361F"/>
      </a:accent1>
      <a:accent2>
        <a:srgbClr val="D99A2B"/>
      </a:accent2>
      <a:accent3>
        <a:srgbClr val="5E7D3A"/>
      </a:accent3>
      <a:accent4>
        <a:srgbClr val="8A5A3C"/>
      </a:accent4>
      <a:accent5>
        <a:srgbClr val="2F5D62"/>
      </a:accent5>
      <a:accent6>
        <a:srgbClr val="8C8079"/>
      </a:accent6>
      <a:hlink>
        <a:srgbClr val="2F5D62"/>
      </a:hlink>
      <a:folHlink>
        <a:srgbClr val="8A5A3C"/>
      </a:folHlink>
    </a:clrScheme>
    <a:fontScheme name="MMH Soy and Chili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MMH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MMH 穩定成長・永續經營 商業建議報告書</dc:title>
  <dc:subject>PptxGenJS Presentation</dc:subject>
  <dc:creator>MMH 策略規劃</dc:creator>
  <cp:lastModifiedBy>MMH 策略規劃</cp:lastModifiedBy>
  <cp:revision>1</cp:revision>
  <dcterms:created xsi:type="dcterms:W3CDTF">2026-10-31T16:01:29Z</dcterms:created>
  <dcterms:modified xsi:type="dcterms:W3CDTF">2026-10-31T16:01:29Z</dcterms:modified>
</cp:coreProperties>
</file>